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09728" cy="13716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Support Team Guide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0A500"/>
                </a:solidFill>
                <a:latin typeface="Calibri"/>
              </a:rPr>
              <a:t>Gringotts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  <a:latin typeface="Calibri"/>
              </a:rPr>
              <a:t>Payment Lookup  ·  Refunds  ·  Obligation Adjustments  · 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This guide covers everything you need to look up citation payments, investigate issues, take action on obligations, and work the triage queue. No engineering background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What's in This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214884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53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8A6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377440"/>
            <a:ext cx="1929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What Gringotts does, how a payment travels from citation to settled, and the three key concepts.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34440"/>
            <a:ext cx="214884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1353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FB95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Reading a Citation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377440"/>
            <a:ext cx="1929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How to look up a citation, interpret obligation and cart statuses, and understand the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234440"/>
            <a:ext cx="214884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353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A50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Actions You Can 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377440"/>
            <a:ext cx="1929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When and how to issue a refund, waive an obligation, or supersede an obligation.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34440"/>
            <a:ext cx="214884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353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2A8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Investigating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377440"/>
            <a:ext cx="1929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How to trace a payment issue from complaint to root cause using audit logs.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234440"/>
            <a:ext cx="214884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1353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7B72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Calibri"/>
              </a:rPr>
              <a:t>The Triage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2377440"/>
            <a:ext cx="1929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Your daily work queue: item types, priorities, auto-detection, and how to resolve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57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A2028"/>
                </a:solidFill>
                <a:latin typeface="Calibr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How Gringotts
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What the system does, how a payment travels from citation to settled,
and the three key concepts every support person needs to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What is Gringotts?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Gringotts is the system that records, tracks, and manages all citation payments.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11880" cy="54864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alibri"/>
              </a:rPr>
              <a:t>Citations Create Obligations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Calibri"/>
              </a:rPr>
              <a:t>When a traffic citation is issued, it creates an obligation — a record of what is owed. Gringotts tracks how much has been paid, what's still outstanding, and whether any amounts were waived or adjusted by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15968"/>
            <a:ext cx="3337560" cy="804672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7083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citation_fee    $40.00
status          OPEN
outstanding     $40.00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3611880" cy="54864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Calibri"/>
              </a:rPr>
              <a:t>Every Payment Is Recorded Permanently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01368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Calibri"/>
              </a:rPr>
              <a:t>Every payment — online card, check, or in-person — is recorded in a ledger that can never be modified. All outstanding balances are calculated from this ledger. Nothing is ever erased or overwritten.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4315968"/>
            <a:ext cx="3337560" cy="804672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37083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LDG-1  +$40.00  payment_settled
  → OBL-1  citation_fee  $40
LDG-7  -$40.00  payment_refunded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34440"/>
            <a:ext cx="3611880" cy="54864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3716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You Handle What the System Can't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01368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Calibri"/>
              </a:rPr>
              <a:t>Gringotts processes normal payments automatically. When something unusual happens — a chargeback, an overpayment, a stuck payment — it appears in the Triage Queue for you to investigate and resolve.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4315968"/>
            <a:ext cx="3337560" cy="804672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37083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[HIGH]  dispute      CRT-330575
[MED]   overpayment  CRT-329181
[LOW]   refund_open  CRT-331714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How a Payment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A citation payment moves through five stages — from 'pay now' to settled funds.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148840" cy="4983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1371600"/>
            <a:ext cx="530352" cy="45720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38988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  <a:latin typeface="Calibri"/>
              </a:rPr>
              <a:t>Cart 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31720"/>
            <a:ext cx="1929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Customer selects a citation to pay. A cart groups the obligation(s) together for checkout.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4251960"/>
            <a:ext cx="1929384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Courier New"/>
              </a:rPr>
              <a:t>Cart: 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234440"/>
            <a:ext cx="2148840" cy="4983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371600"/>
            <a:ext cx="530352" cy="45720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38988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385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  <a:latin typeface="Calibri"/>
              </a:rPr>
              <a:t>Payment Submitted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331720"/>
            <a:ext cx="1929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Customer enters payment details and confirms. The obligation is locked — preventing duplicate payments.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4251960"/>
            <a:ext cx="1929384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Courier New"/>
              </a:rPr>
              <a:t>Cart:  payment_submitted
Obl:   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234440"/>
            <a:ext cx="2148840" cy="4983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42432" y="1371600"/>
            <a:ext cx="530352" cy="45720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2" y="138988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9385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  <a:latin typeface="Calibri"/>
              </a:rPr>
              <a:t>Vendor Confirms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331720"/>
            <a:ext cx="1929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Stripe or CheckAlt sends a signal confirming the payment was received.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4251960"/>
            <a:ext cx="1929384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Courier New"/>
              </a:rPr>
              <a:t>Cart:  payment_confirmed
Obl:   LOCKED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234440"/>
            <a:ext cx="2148840" cy="4983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2" y="1371600"/>
            <a:ext cx="530352" cy="45720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2" y="138988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9385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  <a:latin typeface="Calibri"/>
              </a:rPr>
              <a:t>Payment Settles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331720"/>
            <a:ext cx="1929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Funds clear. The ledger is updated, the outstanding balance drops to $0, and the obligation closes.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4251960"/>
            <a:ext cx="1929384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Courier New"/>
              </a:rPr>
              <a:t>Cart:  payment_settled
Obl:   CLOSED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1234440"/>
            <a:ext cx="2148840" cy="4983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14432" y="1371600"/>
            <a:ext cx="530352" cy="457200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2" y="138988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19385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  <a:latin typeface="Calibri"/>
              </a:rPr>
              <a:t>Receipt 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2331720"/>
            <a:ext cx="1929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A receipt is automatically delivered. The full payment history is auditable.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251960"/>
            <a:ext cx="1929384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2976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  <a:latin typeface="Courier New"/>
              </a:rPr>
              <a:t>Ledger: payment_settled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The Three Things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Every citation payment involves three records. Understanding each one helps you answer any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11880" cy="54864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"/>
              </a:rPr>
              <a:t>Obligation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  <a:latin typeface="Calibri"/>
              </a:rPr>
              <a:t>What is 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Created when a citation is issued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Tracks: amount owed, amount paid, amount outstanding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Has a status reflecting its current state (OPEN, CLOSED, etc.)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Can be waived or superseded by support staff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Outstanding = amount minus what's been paid via the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913632"/>
            <a:ext cx="3401568" cy="2103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005072"/>
            <a:ext cx="321868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citation_fee    $40.00   OPEN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outstanding     $0.00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status          CLOSED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611880" cy="54864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  <a:latin typeface="Calibri"/>
              </a:rPr>
              <a:t>The payment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9339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Created when a customer starts a checkout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Groups one or more obligations together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Has a status showing where the payment is right now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Links to the vendor transaction (Stripe, CheckAlt)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Refunds are processed against a cart, not an obligation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913632"/>
            <a:ext cx="3401568" cy="2103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005072"/>
            <a:ext cx="321868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id      CRT-331714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mode    online (Stripe)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total   $84.00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status  payment_settled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611880" cy="54864"/>
          </a:xfrm>
          <a:prstGeom prst="rect">
            <a:avLst/>
          </a:prstGeom>
          <a:solidFill>
            <a:srgbClr val="3FB95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Ledger 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  <a:latin typeface="Calibri"/>
              </a:rPr>
              <a:t>The permanent record of money moving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99339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Written automatically when money moves — never modified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Refunds appear as a new negative entry, not a deletion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Every obligation balance is calculated from ledger entries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This is the financial truth — not the cart or obligation fields</a:t>
            </a:r>
          </a:p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• If ledger says paid, the obligation is paid —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3913632"/>
            <a:ext cx="3401568" cy="2103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005072"/>
            <a:ext cx="321868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LDG-1  +$84.00  settled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  CI-2  OBL-1  +$40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  CI-1  OBL-9  +$4 </a:t>
            </a:r>
          </a:p>
          <a:p>
            <a:pPr algn="l"/>
            <a:r>
              <a:rPr sz="800" b="0" i="0">
                <a:solidFill>
                  <a:srgbClr val="8B949E"/>
                </a:solidFill>
                <a:latin typeface="Courier New"/>
              </a:rPr>
              <a:t>LDG-7  -$40.00 refunded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57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A2028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Reading a
Citation's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How to look up a citation, interpret obligation and cart statuses,
and understand what the numbers mean.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Looking Up a 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Search by citation number to see the full financial picture on one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54406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57432" cy="3017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  gringotts.internal / citations / 000322452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72184"/>
            <a:ext cx="1828800" cy="51389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691640" cy="402336"/>
          </a:xfrm>
          <a:prstGeom prst="rect">
            <a:avLst/>
          </a:prstGeom>
          <a:solidFill>
            <a:srgbClr val="1A2438"/>
          </a:solidFill>
          <a:ln w="9525"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alibri"/>
              </a:rPr>
              <a:t>Payment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29967"/>
            <a:ext cx="16916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Obligation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05456"/>
            <a:ext cx="16916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328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Cart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16916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08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Ledger Entries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56432"/>
            <a:ext cx="16916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838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Audit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31920"/>
            <a:ext cx="169164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59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Refunds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261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Citation #000322452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5544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Total 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17373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  <a:latin typeface="Calibri"/>
              </a:rPr>
              <a:t>$40.00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5544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Paid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373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  <a:latin typeface="Calibri"/>
              </a:rPr>
              <a:t>$20.00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19568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Outstanding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1396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  <a:latin typeface="Calibri"/>
              </a:rPr>
              <a:t>$20.00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9568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1396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  <a:latin typeface="Calibri"/>
              </a:rPr>
              <a:t>PARTIALLY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423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Obligations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0" y="2679192"/>
          <a:ext cx="9052559" cy="47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1267358"/>
                <a:gridCol w="1267358"/>
                <a:gridCol w="1810512"/>
                <a:gridCol w="2715768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owed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outstanding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citation_fee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$40.00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$20.00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$20.00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8A6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7744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Carts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377440" y="3547872"/>
          <a:ext cx="9052559" cy="47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905256"/>
                <a:gridCol w="905256"/>
                <a:gridCol w="1991563"/>
                <a:gridCol w="3439972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cart id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vendor ref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CRT-322452-4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$20.00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payment_settled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42/1 (CheckAlt)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377440" y="4160520"/>
            <a:ext cx="90525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422452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How to read this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480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Outstanding = $0.00 and Status = CLOSED means fully paid — no action needed.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Outstanding &gt; $0 and Status = OPEN means the customer still owes money.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Status = LOCKED means a payment is in progress right now — do not take action.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Multiple carts on one citation each represent a separate payment attempt.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Obligation Status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The obligation status tells you exactly what is happening with a citation's debt.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" y="1353312"/>
            <a:ext cx="1234440" cy="274320"/>
          </a:xfrm>
          <a:prstGeom prst="rect">
            <a:avLst/>
          </a:prstGeom>
          <a:solidFill>
            <a:srgbClr val="0D1F38"/>
          </a:solidFill>
          <a:ln w="9525"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3624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  <a:latin typeface="Calibri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Unpaid or partially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0992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Outstanding balance &gt; $0. The customer has not fully settled this obligation.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38658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Can be waived (only if no prior payment)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Can be superseded (only if no prior payment)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Will auto-lock when a cart is submitted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3444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53312"/>
            <a:ext cx="1234440" cy="274320"/>
          </a:xfrm>
          <a:prstGeom prst="rect">
            <a:avLst/>
          </a:prstGeom>
          <a:solidFill>
            <a:srgbClr val="2E2000"/>
          </a:solidFill>
          <a:ln w="9525">
            <a:solidFill>
              <a:srgbClr val="2E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3624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A500"/>
                </a:solidFill>
                <a:latin typeface="Calibri"/>
              </a:rPr>
              <a:t>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13716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Payment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70992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A cart has been submitted and is waiting for vendor confirmation. The obligation is 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38658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Do not take action while LOCKED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Will auto-close when payment settles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Unlocks automatically if the payment fails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23444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53312"/>
            <a:ext cx="1234440" cy="274320"/>
          </a:xfrm>
          <a:prstGeom prst="rect">
            <a:avLst/>
          </a:prstGeom>
          <a:solidFill>
            <a:srgbClr val="0F2A18"/>
          </a:solidFill>
          <a:ln w="9525">
            <a:solidFill>
              <a:srgbClr val="0F2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3624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  <a:latin typeface="Calibri"/>
              </a:rPr>
              <a:t>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3716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Fully paid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70992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Outstanding balance = $0. Paid in full through the ledger, or remaining balance was waived.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38658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No action needed on the obligation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A refund can still be issued against the cart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Cannot be waived or superseded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4050792"/>
            <a:ext cx="1234440" cy="274320"/>
          </a:xfrm>
          <a:prstGeom prst="rect">
            <a:avLst/>
          </a:prstGeom>
          <a:solidFill>
            <a:srgbClr val="221438"/>
          </a:solidFill>
          <a:ln w="9525">
            <a:solidFill>
              <a:srgbClr val="221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405993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  <a:latin typeface="Calibri"/>
              </a:rPr>
              <a:t>WAIVED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Forgiven — no payment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440740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The full obligation was waived by support. No payment was received. This is a terminal status.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508406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Terminal — cannot be changed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Audit log shows who waived it and why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Only applies to fully unpaid obligations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7952" y="393192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4050792"/>
            <a:ext cx="1234440" cy="274320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05993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Calibri"/>
              </a:rPr>
              <a:t>SUPERSEDED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Replaced by a new obligation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40740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This obligation was replaced — e.g. the fine amount was corrected. A new obligation was created.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08406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Terminal — this record is frozen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Find the replacement in the Obligation History tab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Only applies to fully unpaid obligations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0144" y="3931920"/>
            <a:ext cx="3611880" cy="2514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050792"/>
            <a:ext cx="1234440" cy="274320"/>
          </a:xfrm>
          <a:prstGeom prst="rect">
            <a:avLst/>
          </a:prstGeom>
          <a:solidFill>
            <a:srgbClr val="380E0E"/>
          </a:solidFill>
          <a:ln w="9525">
            <a:solidFill>
              <a:srgbClr val="3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05993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7B72"/>
                </a:solidFill>
                <a:latin typeface="Calibri"/>
              </a:rPr>
              <a:t>DISPUTED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49E"/>
                </a:solidFill>
                <a:latin typeface="Calibri"/>
              </a:rPr>
              <a:t>Under chargeback dispute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407408"/>
            <a:ext cx="3355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A customer has filed a chargeback. Funds may be withdrawn from the account while the dispute is open.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084064"/>
            <a:ext cx="335584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Automatically opens a HIGH priority Triage item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Do NOT issue a refund while a dispute is open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• May revert to OPEN if the dispute is lost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Cart Status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The cart status tracks where the payment is — from checkout through settlement and beyond.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Calibri"/>
              </a:rPr>
              <a:t>Normal payment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103120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27632"/>
            <a:ext cx="1956816" cy="256032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3677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B949E"/>
                </a:solidFill>
                <a:latin typeface="Calibri"/>
              </a:rP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Cart created. No payment started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1874519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554480"/>
            <a:ext cx="2103120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6624" y="1627632"/>
            <a:ext cx="1956816" cy="256032"/>
          </a:xfrm>
          <a:prstGeom prst="rect">
            <a:avLst/>
          </a:prstGeom>
          <a:solidFill>
            <a:srgbClr val="0D1F38"/>
          </a:solidFill>
          <a:ln w="9525"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63677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8A6FF"/>
                </a:solidFill>
                <a:latin typeface="Calibri"/>
              </a:rP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Items added. Customer is on the payment screen.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874519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1184" y="1554480"/>
            <a:ext cx="2103120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1627632"/>
            <a:ext cx="1956816" cy="256032"/>
          </a:xfrm>
          <a:prstGeom prst="rect">
            <a:avLst/>
          </a:prstGeom>
          <a:solidFill>
            <a:srgbClr val="2E2000"/>
          </a:solidFill>
          <a:ln w="9525">
            <a:solidFill>
              <a:srgbClr val="2E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163677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0A500"/>
                </a:solidFill>
                <a:latin typeface="Calibri"/>
              </a:rPr>
              <a:t>payment_submitted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Payment sent to vendor. Awaiting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1874519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1554480"/>
            <a:ext cx="2103120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42048" y="1627632"/>
            <a:ext cx="1956816" cy="256032"/>
          </a:xfrm>
          <a:prstGeom prst="rect">
            <a:avLst/>
          </a:prstGeom>
          <a:solidFill>
            <a:srgbClr val="0D1F38"/>
          </a:solidFill>
          <a:ln w="9525"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163677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8A6FF"/>
                </a:solidFill>
                <a:latin typeface="Calibri"/>
              </a:rPr>
              <a:t>payment_confirmed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Vendor received payment. Funds not yet cleared.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1874519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36608" y="1554480"/>
            <a:ext cx="2103120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627632"/>
            <a:ext cx="1956816" cy="256032"/>
          </a:xfrm>
          <a:prstGeom prst="rect">
            <a:avLst/>
          </a:prstGeom>
          <a:solidFill>
            <a:srgbClr val="0F2A18"/>
          </a:solidFill>
          <a:ln w="9525">
            <a:solidFill>
              <a:srgbClr val="0F2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163677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FB950"/>
                </a:solidFill>
                <a:latin typeface="Calibri"/>
              </a:rPr>
              <a:t>payment_settled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1920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Funds cleared. Payment complete.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974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Calibri"/>
              </a:rPr>
              <a:t>Exception states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80944"/>
            <a:ext cx="3611880" cy="34015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" y="3090672"/>
            <a:ext cx="1828800" cy="274320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099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949E"/>
                </a:solidFill>
                <a:latin typeface="Calibri"/>
              </a:rPr>
              <a:t>abandoned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438144"/>
            <a:ext cx="3355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Checkout was not completed within 24 hours. The cart is inactive.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4334256"/>
            <a:ext cx="3355848" cy="100584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4389120"/>
            <a:ext cx="3172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500"/>
                </a:solidFill>
                <a:latin typeface="Calibri"/>
              </a:rPr>
              <a:t>What to do: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4608576"/>
            <a:ext cx="3172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No action needed. The obligation will auto-unlock.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952" y="2980944"/>
            <a:ext cx="3611880" cy="34015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3090672"/>
            <a:ext cx="1828800" cy="274320"/>
          </a:xfrm>
          <a:prstGeom prst="rect">
            <a:avLst/>
          </a:prstGeom>
          <a:solidFill>
            <a:srgbClr val="380E0E"/>
          </a:solidFill>
          <a:ln w="9525">
            <a:solidFill>
              <a:srgbClr val="3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3099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7B72"/>
                </a:solidFill>
                <a:latin typeface="Calibri"/>
              </a:rPr>
              <a:t>disputed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3438144"/>
            <a:ext cx="3355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A chargeback has been filed. Funds may be withdrawn from the account while the dispute is active.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4334256"/>
            <a:ext cx="3355848" cy="100584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8" y="4389120"/>
            <a:ext cx="3172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500"/>
                </a:solidFill>
                <a:latin typeface="Calibri"/>
              </a:rPr>
              <a:t>What to do: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608576"/>
            <a:ext cx="3172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A HIGH priority Triage item is created automatically. Do not issue a refund.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0144" y="2980944"/>
            <a:ext cx="3611880" cy="34015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090672"/>
            <a:ext cx="1828800" cy="274320"/>
          </a:xfrm>
          <a:prstGeom prst="rect">
            <a:avLst/>
          </a:prstGeom>
          <a:solidFill>
            <a:srgbClr val="380E0E"/>
          </a:solidFill>
          <a:ln w="9525">
            <a:solidFill>
              <a:srgbClr val="3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30998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7B72"/>
                </a:solidFill>
                <a:latin typeface="Calibri"/>
              </a:rPr>
              <a:t>dispute_lost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438144"/>
            <a:ext cx="33558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The dispute was resolved in the customer's favor. Funds have been permanently withdrawn.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334256"/>
            <a:ext cx="3355848" cy="100584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389120"/>
            <a:ext cx="3172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500"/>
                </a:solidFill>
                <a:latin typeface="Calibri"/>
              </a:rPr>
              <a:t>What to do: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608576"/>
            <a:ext cx="3172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Terminal status. No further action is possible. An audit record is created.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57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A2028"/>
                </a:solidFill>
                <a:latin typeface="Calibr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Actions You
Can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When and how to issue a refund, waive an obligation, or supersede
an obligation — and what you cannot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Action Availability —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What you can do depends on the current state of the obligation. Check this first.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5742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635"/>
                <a:gridCol w="2062337"/>
                <a:gridCol w="1718614"/>
                <a:gridCol w="1718614"/>
                <a:gridCol w="1718614"/>
                <a:gridCol w="171861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Obligation Status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Refund?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Full Waive?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Partial Waive?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Supersede?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Not yet paid at all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OPEN  (paid = $0)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No settled cart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✓ Yes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Nothing paid yet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✓ Yes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Partially paid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OPEN  (paid &gt; $0)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✓ Via settled cart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Use partial waive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✓ Yes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Has 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Fully paid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FB950"/>
                          </a:solidFill>
                          <a:latin typeface="Calibri"/>
                        </a:rPr>
                        <a:t>✓ Via settled cart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Already closed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Already closed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Already closed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Payment in progress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0A500"/>
                          </a:solidFill>
                          <a:latin typeface="Calibri"/>
                        </a:rPr>
                        <a:t>LOCKED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Not settled yet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Wait for 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Wait for 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Wait for 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Waived / Superseded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WAIVED / SUPERSEDED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Terminal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Terminal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Terminal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✕ Terminal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681728"/>
            <a:ext cx="11457432" cy="1417320"/>
          </a:xfrm>
          <a:prstGeom prst="rect">
            <a:avLst/>
          </a:prstGeom>
          <a:solidFill>
            <a:srgbClr val="1A16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73659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Rules to remember: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Waivers and supersedes require the obligation to have NO prior payments (paid = $0).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Partial waive is only for obligations that are partially paid (paid &gt; $0, outstanding &gt; $0).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Refunds are against a cart, not an obligation. The cart must be in payment_settled status.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When in doubt about a LOCKED obligation, wait — it will resolve on its own within minutes.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Issuing a Refund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Refunds reverse a payment. The cart must be in payment_settled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4924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  <a:latin typeface="Calibri"/>
              </a:rPr>
              <a:t>When to issue a refund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• Customer was charged in error or double-charged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• Payment was made but the citation was dismissed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• Customer paid the wrong citation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14015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• Court ordered a reversal of the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63239"/>
            <a:ext cx="329184" cy="310896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72384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Go to Cart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55263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Find the citation, click Cart Detail. Confirm the cart status is payment_settled.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84447"/>
            <a:ext cx="329184" cy="310896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93591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3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Select items and enter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76472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Check the cart items to include. Enter the refund amount and a reason.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05656"/>
            <a:ext cx="329184" cy="310896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1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Submit the refund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Click Initiate Refund. The system processes this asynchronously — you'll see the result in minutes.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26864"/>
            <a:ext cx="329184" cy="310896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36007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17719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Ledger is updated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A new negative entry is appended to the ledger. The original entry is never changed.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48072"/>
            <a:ext cx="329184" cy="310896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5721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38927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Obligation balance recalculates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0096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Outstanding balance updates automatically. The obligation may reopen if fully reversed.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234440"/>
            <a:ext cx="5879592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1298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Calibri"/>
              </a:rPr>
              <a:t>What you'll see in the Ledger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16459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Before the refund: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080760" y="1901952"/>
          <a:ext cx="557783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952243"/>
                <a:gridCol w="1115568"/>
                <a:gridCol w="1840687"/>
              </a:tblGrid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LDG-1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+$84.00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FB950"/>
                          </a:solidFill>
                          <a:latin typeface="Calibri"/>
                        </a:rPr>
                        <a:t>payment_settled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LDG-2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stripe_fee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-$1.55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FB950"/>
                          </a:solidFill>
                          <a:latin typeface="Calibri"/>
                        </a:rPr>
                        <a:t>payment_settled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080760" y="283464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After issuing a $40 refund on OBL-1: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080760" y="3090672"/>
          <a:ext cx="5577838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952243"/>
                <a:gridCol w="1115568"/>
                <a:gridCol w="1840687"/>
              </a:tblGrid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LDG-1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+$84.00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FB950"/>
                          </a:solidFill>
                          <a:latin typeface="Calibri"/>
                        </a:rPr>
                        <a:t>payment_settled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LDG-2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stripe_fee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-$1.55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FB950"/>
                          </a:solidFill>
                          <a:latin typeface="Calibri"/>
                        </a:rPr>
                        <a:t>payment_settled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LDG-7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payment_refunded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-$40.00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payment_refunded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6080760" y="4160520"/>
            <a:ext cx="5577840" cy="868680"/>
          </a:xfrm>
          <a:prstGeom prst="rect">
            <a:avLst/>
          </a:prstGeom>
          <a:solidFill>
            <a:srgbClr val="21262D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2062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EDF3"/>
                </a:solidFill>
                <a:latin typeface="Calibri"/>
              </a:rPr>
              <a:t>OBL-1 balance after refund: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45312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FB950"/>
                </a:solidFill>
                <a:latin typeface="Courier New"/>
              </a:rPr>
              <a:t>Paid:           $40 − $40 = $0.00
Outstanding:    $40 − $0  = $40.00
Status:         OPEN  (reopened)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138928"/>
            <a:ext cx="5577840" cy="868680"/>
          </a:xfrm>
          <a:prstGeom prst="rect">
            <a:avLst/>
          </a:prstGeom>
          <a:solidFill>
            <a:srgbClr val="1A16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2578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0A500"/>
                </a:solidFill>
                <a:latin typeface="Calibri"/>
              </a:rPr>
              <a:t>The ledger is never modified. Refunds are always a new row appended to the bottom.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Waiving an Obligation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Forgive a financial obligation so that no payment is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3212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32120" cy="54864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  <a:latin typeface="Calibri"/>
              </a:rPr>
              <a:t>Full Waive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Forgive the entire outstanding balance when no payment has been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Required conditions: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Obligation status =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No prior payments (paid = $0)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Outstanding balance &gt; 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What happens: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Status → WAIVED  (terminal, cannot be changed)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0390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Outstanding balance → 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9935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Waived amount and reason recorded in audit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07408"/>
            <a:ext cx="5257800" cy="157276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Example use case: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00016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Court grants a full hardship exemption.
Citation is dismissed — no payment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234440"/>
            <a:ext cx="553212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234440"/>
            <a:ext cx="5532120" cy="54864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716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Calibri"/>
              </a:rPr>
              <a:t>Partial Waive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373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Forgive the remaining balance after the customer has already made a partial payment.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2199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Required conditions: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8716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Obligation status =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4320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Has prior payments (paid &gt; $0)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9923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Outstanding balance &gt; 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29184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What happens: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4787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Status → CLOSED  (obligation is now settled)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0390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Remaining outstanding balance → 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059935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Waived amount and reason recorded in audit 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407408"/>
            <a:ext cx="5257800" cy="157276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462272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Example use case: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700016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alibri"/>
              </a:rPr>
              <a:t>Customer paid $500 of a $1,000 fine.
Court agrees to forgive the remaining $500.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Superseding an Obligation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Replace an existing obligation with a corrected amount — for example, when a court revises a fine.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25780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What supersede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  <a:latin typeface="Calibri"/>
              </a:rPr>
              <a:t>Use supersede when the fine amount must be changed. The original obligation is frozen and marked SUPERSEDED, and a brand-new obligation is created at the corrected amount.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915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Required conditions: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151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Obligation status =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71215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No prior payments have been made (paid = $0)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  • You have the corrected amount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What happens: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Original obligation status → SUPERSEDED  (terminal)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A new obligation is created with the corrected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966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New obligation status = OPEN  (customer still owes)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Both old and new obligations appear in Obligation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8172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alibri"/>
              </a:rPr>
              <a:t>  • Audit log records the action with full before/after snapshots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02352"/>
            <a:ext cx="4983480" cy="896112"/>
          </a:xfrm>
          <a:prstGeom prst="rect">
            <a:avLst/>
          </a:prstGeom>
          <a:solidFill>
            <a:srgbClr val="21262D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57216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B72"/>
                </a:solidFill>
                <a:latin typeface="Calibri"/>
              </a:rPr>
              <a:t>Cannot supersede if: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Any payment has been applied to the obligation (paid &gt; $0). Contact engineering for a manual adjustment in that 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234440"/>
            <a:ext cx="5879592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298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Before supersede: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62763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6276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Calibri"/>
              </a:rPr>
              <a:t>OBL-5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9019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Calibri"/>
              </a:rPr>
              <a:t>citation_fee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1762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762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Calibri"/>
              </a:rPr>
              <a:t>$40.00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45059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4505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Calibri"/>
              </a:rPr>
              <a:t>$0.00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7249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Outstanding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724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500"/>
                </a:solidFill>
                <a:latin typeface="Calibri"/>
              </a:rPr>
              <a:t>$40.00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99923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9992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  <a:latin typeface="Calibri"/>
              </a:rPr>
              <a:t>OPEN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291840"/>
            <a:ext cx="5577840" cy="347472"/>
          </a:xfrm>
          <a:prstGeom prst="rect">
            <a:avLst/>
          </a:prstGeom>
          <a:solidFill>
            <a:srgbClr val="1A16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3192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  ↓   Supersede — new amount: $25.00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7307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After supersede: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023360"/>
            <a:ext cx="2651760" cy="1901952"/>
          </a:xfrm>
          <a:prstGeom prst="rect">
            <a:avLst/>
          </a:prstGeom>
          <a:solidFill>
            <a:srgbClr val="21262D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0782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9E"/>
                </a:solidFill>
                <a:latin typeface="Calibri"/>
              </a:rPr>
              <a:t>OLD — SUPERSEDED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3159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OBL-5  $40.00
Status: SUPERSEDED
Frozen. No further action.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4023360"/>
            <a:ext cx="2697480" cy="1901952"/>
          </a:xfrm>
          <a:prstGeom prst="rect">
            <a:avLst/>
          </a:prstGeom>
          <a:solidFill>
            <a:srgbClr val="21262D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407822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FB950"/>
                </a:solidFill>
                <a:latin typeface="Calibri"/>
              </a:rPr>
              <a:t>NEW — OPEN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3159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FB950"/>
                </a:solidFill>
                <a:latin typeface="Courier New"/>
              </a:rPr>
              <a:t>OBL-6  $25.00
Status: OPEN
Customer owes $25.00.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57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A2028"/>
                </a:solidFill>
                <a:latin typeface="Calibr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Investigating
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How to trace a payment issue from complaint to root cause
using audit logs and correlation IDs.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Tracing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Every action in Gringotts is logged with a correlation ID — use it to follow the chain of events.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25780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Step-by-step investigation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73352"/>
            <a:ext cx="329184" cy="310896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4370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Get the citation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370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Ask the customer for the citation number. Every investigation starts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87752"/>
            <a:ext cx="329184" cy="310896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968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78608"/>
            <a:ext cx="4370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Check the obligation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16352"/>
            <a:ext cx="4370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Is it OPEN, CLOSED, LOCKED? This tells you immediately whether money is still owed.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02152"/>
            <a:ext cx="329184" cy="310896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112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4370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Find the relevant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370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Go to Cart Detail. Each cart is a payment attempt. Identify the one the customer is asking about.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16552"/>
            <a:ext cx="329184" cy="310896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256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4370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Open the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4370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The audit log shows every status change in order. Look for the event chain around the time of the complaint.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30952"/>
            <a:ext cx="329184" cy="310896"/>
          </a:xfrm>
          <a:prstGeom prst="rect">
            <a:avLst/>
          </a:prstGeom>
          <a:solidFill>
            <a:srgbClr val="D2A8FF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009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21808"/>
            <a:ext cx="4370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Search by correlation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59552"/>
            <a:ext cx="4370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Copy the correlation_id from any audit log entry. Search across all logs with this ID to see exactly what happened — webhook received, ledger written, obligation updated, etc.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234440"/>
            <a:ext cx="5879592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298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Sample audit log for Citation #000331714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989320" y="1627632"/>
          <a:ext cx="5577837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08"/>
                <a:gridCol w="669340"/>
                <a:gridCol w="1338681"/>
                <a:gridCol w="669340"/>
                <a:gridCol w="1115568"/>
              </a:tblGrid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obligation.locked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OBL-1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OPEN → LOCKED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cart_payment:1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obligation.payment_confirmed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OBL-1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LOCKED → LOCKED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cart_payment:1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obligation.payment_settled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OBL-1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LOCKED → CLOSED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cart_payment:1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cart.payment_settled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CRT-1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confirmed→settled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cart_payment:1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obligation.payment_refunded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OBL-1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CLOSED → OPEN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refund:7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989320" y="34564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What the correlation ID tells you: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730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urier New"/>
              </a:rPr>
              <a:t>cart_payment:1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041648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• All five events above share the same correlation ID — they are all part of the same payment.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• The final entry (refund:7) is a different correlation ID, meaning it was a separate action.</a:t>
            </a:r>
          </a:p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• If a customer says 'I paid but my obligation is OPEN' — find their cart, get the correlation_id, search the audit log. If payment_settled is missing, the vendor event may not have arrived yet.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Common Complaint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The most frequent issues you'll see and exactly how to handle each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69280" cy="2633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4864"/>
          </a:xfrm>
          <a:prstGeom prst="rect">
            <a:avLst/>
          </a:prstGeom>
          <a:solidFill>
            <a:srgbClr val="F0A500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6EDF3"/>
                </a:solidFill>
                <a:latin typeface="Calibri"/>
              </a:rPr>
              <a:t>"I paid but it still shows I owe money."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1. Look up the citation — check the obligation outstanding balance.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2. Find the cart. Is it payment_settled? If yes, check the obligation activity log.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3. If payment settled but obligation still OPEN: look for a refund that reopened it.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4. If cart is in payment_submitted for 24+ hours: create a Stuck Payment triage item.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5. If no cart exists at all: the payment may not have been processed — ask for receipt.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669280" cy="2633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669280" cy="54864"/>
          </a:xfrm>
          <a:prstGeom prst="rect">
            <a:avLst/>
          </a:prstGeom>
          <a:solidFill>
            <a:srgbClr val="FF7B72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6EDF3"/>
                </a:solidFill>
                <a:latin typeface="Calibri"/>
              </a:rPr>
              <a:t>"I was charged twice for the same citation."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1. Look up the citation. You should see two carts in payment_settled.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2. Confirm the obligation shows an overpayment (paid &gt; owed).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3. Issue a refund on the duplicate cart via the Refund tab.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4. If the second cart is in payment_submitted (not settled): wait — it may auto-fail within 24hrs.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5. If both are settled and it's been 24hrs: issue the refund immediately.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5669280" cy="2633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669280" cy="54864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42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6EDF3"/>
                </a:solidFill>
                <a:latin typeface="Calibri"/>
              </a:rPr>
              <a:t>"The system says it's locked and I can't pay."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1. LOCKED means a payment is actively in progress on another cart.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2. Check the cart list — find the cart in payment_submitted.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3. If it's been less than 1 hour: tell the customer to wait for confirmation.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4. If it's been 24+ hours with no update: create a Stuck Payment triage item.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5. The obligation unlocks automatically once the cart is 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23360"/>
            <a:ext cx="5669280" cy="2633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5669280" cy="54864"/>
          </a:xfrm>
          <a:prstGeom prst="rect">
            <a:avLst/>
          </a:prstGeom>
          <a:solidFill>
            <a:srgbClr val="FF7B72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42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6EDF3"/>
                </a:solidFill>
                <a:latin typeface="Calibri"/>
              </a:rPr>
              <a:t>"My bank reversed the charge / chargeback."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35424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1. Gringotts auto-creates a HIGH priority Triage item when this happens.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2. The cart status changes to disputed; funds are temporarily withdrawn.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3. Do NOT issue a refund while a dispute is open — it creates a double-reversal.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4. Gather evidence (receipt, payment date, obligation details) for the dispute.</a:t>
            </a:r>
          </a:p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  5. If dispute is won: cart returns to payment_settled. If lost: dispute_lost (terminal).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457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1A2028"/>
                </a:solidFill>
                <a:latin typeface="Calibr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The Triage
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Your daily work queue: item types, priorities, auto-detection,
and how to resolve each 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The Triage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Gringotts automatically detects payment anomalies and surfaces them here for you to investigate and resolve.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Current queue (4 open items):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27048"/>
          <a:ext cx="1145742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594"/>
                <a:gridCol w="1604040"/>
                <a:gridCol w="1489466"/>
                <a:gridCol w="1145743"/>
                <a:gridCol w="3437229"/>
                <a:gridCol w="1374891"/>
                <a:gridCol w="1489466"/>
              </a:tblGrid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citation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cart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assigned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B949E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7B7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dispute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000330575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Cart 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Chargeback filed $84.00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sarah.k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0A500"/>
                          </a:solidFill>
                          <a:latin typeface="Calibri"/>
                        </a:rPr>
                        <a:t>in_progress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0A500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overpayment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000329181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Carts 1,3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Paid by Stripe + CheckAlt ($40 over)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8A6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7797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0A500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partial_payment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000322452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Cart 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Check paid $20, still owes $20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james.r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0A500"/>
                          </a:solidFill>
                          <a:latin typeface="Calibri"/>
                        </a:rPr>
                        <a:t>in_progress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79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refund_open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000331714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Cart 1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Stripe refund issued, OBL-1 still OPEN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8A6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063240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Calibri"/>
              </a:rPr>
              <a:t>Auto-detection rules — how items enter the queue: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337560"/>
          <a:ext cx="1145743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040"/>
                <a:gridCol w="3437229"/>
                <a:gridCol w="1031168"/>
                <a:gridCol w="5384993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How it's detected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49E"/>
                          </a:solidFill>
                          <a:latin typeface="Calibri"/>
                        </a:rPr>
                        <a:t>What to do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dispute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Vendor sends a payment_dispute_funds_withdrawn 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7B7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Gather evidence. Do NOT issue a refund. Track the dispute window deadline with the vendor.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stuck_payment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Cart stays in payment_submitted for more than 24 hours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0A500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Check with Stripe or CheckAlt for the payment intent status. Cancel and let the customer retry.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refund_failed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Refund processor has returned an error 3 or more times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0A500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Issue the refund manually through the vendor portal. Mark the Triage item resolved.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balance_mismatch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Obligation outstanding &gt; $0 but linked cart is payment_settled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0A500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Inspect the ledger entries for the cart. Check for a missing event. Escalate to engineering if stuck.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vendor_event_failed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A vendor webhook could not be processed after retries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8B949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E6EDF3"/>
                          </a:solidFill>
                          <a:latin typeface="Calibri"/>
                        </a:rPr>
                        <a:t>Inspect the error in the event log. Fix bad data or missing cart. Ask engineering to replay the event.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Quick Reference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Keep this handy. Everything you need to answer common questions at a glance.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118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Obligation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09928"/>
            <a:ext cx="1188720" cy="256032"/>
          </a:xfrm>
          <a:prstGeom prst="rect">
            <a:avLst/>
          </a:prstGeom>
          <a:solidFill>
            <a:srgbClr val="0D1F38"/>
          </a:solidFill>
          <a:ln w="9525">
            <a:solidFill>
              <a:srgbClr val="0D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8A6FF"/>
                </a:solidFill>
                <a:latin typeface="Calibri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28216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Unpaid or partially paid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03704"/>
            <a:ext cx="1188720" cy="256032"/>
          </a:xfrm>
          <a:prstGeom prst="rect">
            <a:avLst/>
          </a:prstGeom>
          <a:solidFill>
            <a:srgbClr val="2E2000"/>
          </a:solidFill>
          <a:ln w="9525">
            <a:solidFill>
              <a:srgbClr val="2E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A500"/>
                </a:solidFill>
                <a:latin typeface="Calibri"/>
              </a:rPr>
              <a:t>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221992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Payment in progress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188720" cy="256032"/>
          </a:xfrm>
          <a:prstGeom prst="rect">
            <a:avLst/>
          </a:prstGeom>
          <a:solidFill>
            <a:srgbClr val="0F2A18"/>
          </a:solidFill>
          <a:ln w="9525">
            <a:solidFill>
              <a:srgbClr val="0F2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066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FB950"/>
                </a:solidFill>
                <a:latin typeface="Calibri"/>
              </a:rPr>
              <a:t>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715768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Fully paid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91256"/>
            <a:ext cx="1188720" cy="256032"/>
          </a:xfrm>
          <a:prstGeom prst="rect">
            <a:avLst/>
          </a:prstGeom>
          <a:solidFill>
            <a:srgbClr val="221438"/>
          </a:solidFill>
          <a:ln w="9525">
            <a:solidFill>
              <a:srgbClr val="221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2A8FF"/>
                </a:solidFill>
                <a:latin typeface="Calibri"/>
              </a:rPr>
              <a:t>WAIVED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9544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Forgiven — no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85032"/>
            <a:ext cx="1188720" cy="256032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9417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949E"/>
                </a:solidFill>
                <a:latin typeface="Calibri"/>
              </a:rPr>
              <a:t>SUPERSEDED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703320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Replaced by new obligation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78808"/>
            <a:ext cx="1188720" cy="256032"/>
          </a:xfrm>
          <a:prstGeom prst="rect">
            <a:avLst/>
          </a:prstGeom>
          <a:solidFill>
            <a:srgbClr val="380E0E"/>
          </a:solidFill>
          <a:ln w="9525">
            <a:solidFill>
              <a:srgbClr val="3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879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7B72"/>
                </a:solidFill>
                <a:latin typeface="Calibri"/>
              </a:rPr>
              <a:t>DISPUTED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197096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Under chargeback dispute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234440"/>
            <a:ext cx="3840480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29844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Action Preconditions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Refund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938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Cart = payment_settled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212848"/>
            <a:ext cx="356616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2860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2A8FF"/>
                </a:solidFill>
                <a:latin typeface="Calibri"/>
              </a:rPr>
              <a:t>Full Waive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5603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OBL = OPEN  &amp;  paid = $0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2834640"/>
            <a:ext cx="356616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9077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500"/>
                </a:solidFill>
                <a:latin typeface="Calibri"/>
              </a:rPr>
              <a:t>Partial Waive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1821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OBL = OPEN  &amp;  paid &gt; $0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3456432"/>
            <a:ext cx="356616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5295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Calibri"/>
              </a:rPr>
              <a:t>Supersede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803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OBL = OPEN  &amp;  paid = $0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4078224"/>
            <a:ext cx="356616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1513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Calibri"/>
              </a:rPr>
              <a:t>No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4256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CLOSED / LOCKED / any terminal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547872" cy="4983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1298448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alibri"/>
              </a:rPr>
              <a:t>Triage Item Types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66420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B72"/>
                </a:solidFill>
                <a:latin typeface="Calibri"/>
              </a:rPr>
              <a:t>dispute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1682496"/>
            <a:ext cx="804672" cy="219456"/>
          </a:xfrm>
          <a:prstGeom prst="rect">
            <a:avLst/>
          </a:prstGeom>
          <a:solidFill>
            <a:srgbClr val="21262D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52760" y="169164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7B72"/>
                </a:solidFill>
                <a:latin typeface="Calibri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Chargeback filed against payment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2257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stuck_payment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52760" y="2340864"/>
            <a:ext cx="804672" cy="219456"/>
          </a:xfrm>
          <a:prstGeom prst="rect">
            <a:avLst/>
          </a:prstGeom>
          <a:solidFill>
            <a:srgbClr val="21262D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52760" y="235000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A500"/>
                </a:solidFill>
                <a:latin typeface="Calibri"/>
              </a:rPr>
              <a:t>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24h+ in payment_submitted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980944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refund_failed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52760" y="2999232"/>
            <a:ext cx="804672" cy="219456"/>
          </a:xfrm>
          <a:prstGeom prst="rect">
            <a:avLst/>
          </a:prstGeom>
          <a:solidFill>
            <a:srgbClr val="21262D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52760" y="3008375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A500"/>
                </a:solidFill>
                <a:latin typeface="Calibri"/>
              </a:rPr>
              <a:t>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2552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3+ refund processing errors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63931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balance_mismatch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60" y="3657600"/>
            <a:ext cx="804672" cy="219456"/>
          </a:xfrm>
          <a:prstGeom prst="rect">
            <a:avLst/>
          </a:prstGeom>
          <a:solidFill>
            <a:srgbClr val="21262D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52760" y="366674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A500"/>
                </a:solidFill>
                <a:latin typeface="Calibri"/>
              </a:rPr>
              <a:t>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913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Settled cart, OBL still open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29768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949E"/>
                </a:solidFill>
                <a:latin typeface="Calibri"/>
              </a:rPr>
              <a:t>vendor_event_failed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52760" y="4315968"/>
            <a:ext cx="804672" cy="219456"/>
          </a:xfrm>
          <a:prstGeom prst="rect">
            <a:avLst/>
          </a:prstGeom>
          <a:solidFill>
            <a:srgbClr val="21262D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52760" y="43251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949E"/>
                </a:solidFill>
                <a:latin typeface="Calibri"/>
              </a:rPr>
              <a:t>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Webhook processing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