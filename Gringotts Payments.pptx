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5"/>
    <p:sldMasterId id="214748366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embeddedFontLst>
    <p:embeddedFont>
      <p:font typeface="Helvetica Neue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0731C9-13D8-40BC-A0A8-03347B6271DF}">
  <a:tblStyle styleId="{EB0731C9-13D8-40BC-A0A8-03347B6271DF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CFD7E7"/>
          </a:solidFill>
        </a:fill>
      </a:tcStyle>
    </a:wholeTbl>
    <a:band1H>
      <a:tcTxStyle/>
    </a:band1H>
    <a:band2H>
      <a:tcTxStyle b="off" i="off"/>
      <a:tcStyle>
        <a:fill>
          <a:solidFill>
            <a:srgbClr val="E8ECF4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E1203DBA-F43F-47C0-ACF6-7F5FEFCCD8C9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HelveticaNeue-regular.fntdata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HelveticaNeue-italic.fntdata"/><Relationship Id="rId14" Type="http://schemas.openxmlformats.org/officeDocument/2006/relationships/slide" Target="slides/slide7.xml"/><Relationship Id="rId36" Type="http://schemas.openxmlformats.org/officeDocument/2006/relationships/font" Target="fonts/HelveticaNeue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schemas.openxmlformats.org/officeDocument/2006/relationships/font" Target="fonts/HelveticaNeue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548ebcb56_2_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d548ebcb56_2_40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548ebcb56_2_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d548ebcb56_2_49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548ebcb56_2_7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d548ebcb56_2_75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548ebcb56_2_9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d548ebcb56_2_98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548ebcb56_2_1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d548ebcb56_2_115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548ebcb56_2_1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d548ebcb56_2_122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548ebcb56_2_1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d548ebcb56_2_154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548ebcb5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d548ebcb5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548ebcb56_2_17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d548ebcb56_2_179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548ebcb56_2_19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d548ebcb56_2_193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548ebcb56_2_2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d548ebcb56_2_238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548ebcb56_2_2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d548ebcb56_2_264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d548ebcb56_2_2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d548ebcb56_2_271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d548ebcb56_2_2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d548ebcb56_2_278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548ebcb56_2_3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d548ebcb56_2_318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d548ebcb56_2_3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d548ebcb56_2_351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d548ebcb56_2_3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d548ebcb56_2_371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d548ebcb56_2_38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d548ebcb56_2_386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d548ebcb56_2_4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3d548ebcb56_2_431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d548ebcb56_2_4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g3d548ebcb56_2_463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d548ebcb56_2_48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g3d548ebcb56_2_484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d548ebcb56_2_49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g3d548ebcb56_2_498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d548ebcb56_2_5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g3d548ebcb56_2_512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d548ebcb5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d548ebcb5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d548ebcb56_2_5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g3d548ebcb56_2_537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d548ebcb56_2_5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g3d548ebcb56_2_550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d548ebcb56_2_5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d548ebcb56_2_556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514886" y="1597819"/>
            <a:ext cx="5835379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1029773" y="2914650"/>
            <a:ext cx="4805606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343258" y="205978"/>
            <a:ext cx="6178636" cy="857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343258" y="1200150"/>
            <a:ext cx="6178636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542299" y="3305175"/>
            <a:ext cx="5835379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  <a:defRPr b="1" sz="3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542299" y="2180035"/>
            <a:ext cx="5835379" cy="1125141"/>
          </a:xfrm>
          <a:prstGeom prst="rect">
            <a:avLst/>
          </a:prstGeom>
          <a:noFill/>
          <a:ln>
            <a:noFill/>
          </a:ln>
        </p:spPr>
        <p:txBody>
          <a:bodyPr anchorCtr="0" anchor="b" bIns="34300" lIns="34300" spcFirstLastPara="1" rIns="34300" wrap="square" tIns="343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  <a:defRPr sz="15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  <a:defRPr sz="15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  <a:defRPr sz="1500">
                <a:solidFill>
                  <a:srgbClr val="888888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343258" y="205978"/>
            <a:ext cx="6178636" cy="857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>
            <a:off x="343258" y="1200150"/>
            <a:ext cx="30321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/>
            </a:lvl1pPr>
            <a:lvl2pPr indent="-3619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–"/>
              <a:defRPr sz="2100"/>
            </a:lvl2pPr>
            <a:lvl3pPr indent="-3619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/>
            </a:lvl3pPr>
            <a:lvl4pPr indent="-3619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–"/>
              <a:defRPr sz="2100"/>
            </a:lvl4pPr>
            <a:lvl5pPr indent="-3619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»"/>
              <a:defRPr sz="21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43258" y="205978"/>
            <a:ext cx="6178636" cy="857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343258" y="1151334"/>
            <a:ext cx="303330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300" lIns="34300" spcFirstLastPara="1" rIns="34300" wrap="square" tIns="343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sz="18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sz="18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sz="18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2" type="body"/>
          </p:nvPr>
        </p:nvSpPr>
        <p:spPr>
          <a:xfrm>
            <a:off x="3487401" y="1151334"/>
            <a:ext cx="303449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300" lIns="34300" spcFirstLastPara="1" rIns="34300" wrap="square" tIns="343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343258" y="205978"/>
            <a:ext cx="6178636" cy="857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343258" y="204788"/>
            <a:ext cx="2258588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300" lIns="34300" spcFirstLastPara="1" rIns="34300" wrap="square" tIns="343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  <a:defRPr b="1"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2684083" y="204788"/>
            <a:ext cx="383781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343257" y="1076325"/>
            <a:ext cx="2258589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1345618" y="3600450"/>
            <a:ext cx="4119091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300" lIns="34300" spcFirstLastPara="1" rIns="34300" wrap="square" tIns="343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  <a:defRPr b="1"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87" name="Google Shape;87;p22"/>
          <p:cNvSpPr/>
          <p:nvPr>
            <p:ph idx="2" type="pic"/>
          </p:nvPr>
        </p:nvSpPr>
        <p:spPr>
          <a:xfrm>
            <a:off x="1345618" y="459581"/>
            <a:ext cx="4119091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1345618" y="4025503"/>
            <a:ext cx="4119091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sz="11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69056"/>
            <a:ext cx="8229600" cy="1131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2263140"/>
            <a:ext cx="82382" cy="960121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3"/>
          <p:cNvSpPr txBox="1"/>
          <p:nvPr/>
        </p:nvSpPr>
        <p:spPr>
          <a:xfrm>
            <a:off x="446235" y="1028699"/>
            <a:ext cx="6796500" cy="18623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Engineering Presentation · April 2026</a:t>
            </a:r>
            <a:endParaRPr sz="1100"/>
          </a:p>
        </p:txBody>
      </p:sp>
      <p:sp>
        <p:nvSpPr>
          <p:cNvPr id="96" name="Google Shape;96;p23"/>
          <p:cNvSpPr txBox="1"/>
          <p:nvPr/>
        </p:nvSpPr>
        <p:spPr>
          <a:xfrm>
            <a:off x="446235" y="1371599"/>
            <a:ext cx="6796500" cy="67699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4800"/>
              <a:buFont typeface="Calibri"/>
              <a:buNone/>
            </a:pPr>
            <a:r>
              <a:rPr b="1" i="0" lang="en" sz="48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Gringotts</a:t>
            </a:r>
            <a:endParaRPr sz="1100"/>
          </a:p>
        </p:txBody>
      </p:sp>
      <p:sp>
        <p:nvSpPr>
          <p:cNvPr id="97" name="Google Shape;97;p23"/>
          <p:cNvSpPr txBox="1"/>
          <p:nvPr/>
        </p:nvSpPr>
        <p:spPr>
          <a:xfrm>
            <a:off x="446235" y="2228849"/>
            <a:ext cx="6796500" cy="468892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 Ledger-First Payment Orchestration System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for Citation Payment Processing</a:t>
            </a:r>
            <a:endParaRPr sz="1100"/>
          </a:p>
        </p:txBody>
      </p:sp>
      <p:sp>
        <p:nvSpPr>
          <p:cNvPr id="98" name="Google Shape;98;p23"/>
          <p:cNvSpPr txBox="1"/>
          <p:nvPr/>
        </p:nvSpPr>
        <p:spPr>
          <a:xfrm>
            <a:off x="446235" y="2948940"/>
            <a:ext cx="5423470" cy="471979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Scope  —  Payments, Obligations, Audit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Replaces  —  Victor · IMP · Report Manager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Stack  —  Python · FastAPI · PostgreSQL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/>
          <p:nvPr/>
        </p:nvSpPr>
        <p:spPr>
          <a:xfrm>
            <a:off x="5869704" y="342900"/>
            <a:ext cx="3020668" cy="197224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028"/>
              </a:buClr>
              <a:buSzPts val="15000"/>
              <a:buFont typeface="Calibri"/>
              <a:buNone/>
            </a:pPr>
            <a:r>
              <a:rPr b="1" i="0" lang="en" sz="15000" u="none" cap="none" strike="noStrike">
                <a:solidFill>
                  <a:srgbClr val="1A202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/>
          </a:p>
        </p:txBody>
      </p:sp>
      <p:sp>
        <p:nvSpPr>
          <p:cNvPr id="104" name="Google Shape;104;p24"/>
          <p:cNvSpPr/>
          <p:nvPr/>
        </p:nvSpPr>
        <p:spPr>
          <a:xfrm>
            <a:off x="343257" y="1371600"/>
            <a:ext cx="54923" cy="1714500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/>
          <p:nvPr/>
        </p:nvSpPr>
        <p:spPr>
          <a:xfrm>
            <a:off x="549211" y="1440179"/>
            <a:ext cx="6109986" cy="598558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200"/>
              <a:buFont typeface="Calibri"/>
              <a:buNone/>
            </a:pPr>
            <a:r>
              <a:rPr b="1" i="0" lang="en" sz="4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Current System</a:t>
            </a:r>
            <a:endParaRPr sz="1100"/>
          </a:p>
        </p:txBody>
      </p:sp>
      <p:sp>
        <p:nvSpPr>
          <p:cNvPr id="106" name="Google Shape;106;p24"/>
          <p:cNvSpPr txBox="1"/>
          <p:nvPr/>
        </p:nvSpPr>
        <p:spPr>
          <a:xfrm>
            <a:off x="549211" y="2503169"/>
            <a:ext cx="5766729" cy="38205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 review of how citation payments work today across Victor, IMP, and Report Manager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— and the hidden risks buried in each service.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/>
          <p:nvPr/>
        </p:nvSpPr>
        <p:spPr>
          <a:xfrm>
            <a:off x="343257" y="240030"/>
            <a:ext cx="8464733" cy="27433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5"/>
          <p:cNvSpPr txBox="1"/>
          <p:nvPr/>
        </p:nvSpPr>
        <p:spPr>
          <a:xfrm>
            <a:off x="377583" y="288035"/>
            <a:ext cx="8396081" cy="289033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Current System — How Payments Work Today</a:t>
            </a:r>
            <a:endParaRPr sz="1100"/>
          </a:p>
        </p:txBody>
      </p:sp>
      <p:sp>
        <p:nvSpPr>
          <p:cNvPr id="113" name="Google Shape;113;p25"/>
          <p:cNvSpPr txBox="1"/>
          <p:nvPr/>
        </p:nvSpPr>
        <p:spPr>
          <a:xfrm>
            <a:off x="308931" y="754379"/>
            <a:ext cx="2677410" cy="193652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Online (Stripe | Victor )</a:t>
            </a:r>
            <a:endParaRPr sz="1100"/>
          </a:p>
        </p:txBody>
      </p:sp>
      <p:sp>
        <p:nvSpPr>
          <p:cNvPr id="114" name="Google Shape;114;p25"/>
          <p:cNvSpPr/>
          <p:nvPr/>
        </p:nvSpPr>
        <p:spPr>
          <a:xfrm>
            <a:off x="274605" y="1028699"/>
            <a:ext cx="2038874" cy="2263142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5"/>
          <p:cNvSpPr txBox="1"/>
          <p:nvPr/>
        </p:nvSpPr>
        <p:spPr>
          <a:xfrm>
            <a:off x="377583" y="1062990"/>
            <a:ext cx="1833000" cy="17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charge.succeeded webhook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↓ validate sig + dedupe on stripe_event_id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Enrich Stripe Data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↓ amount_paid += captured - convenience_fee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Mutate Citations directly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↓ amount_paid ≥ due_amount?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PAID </a:t>
            </a:r>
            <a:endParaRPr sz="1100"/>
          </a:p>
        </p:txBody>
      </p:sp>
      <p:sp>
        <p:nvSpPr>
          <p:cNvPr id="116" name="Google Shape;116;p25"/>
          <p:cNvSpPr/>
          <p:nvPr/>
        </p:nvSpPr>
        <p:spPr>
          <a:xfrm>
            <a:off x="274601" y="3394700"/>
            <a:ext cx="2038800" cy="12345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5"/>
          <p:cNvSpPr txBox="1"/>
          <p:nvPr/>
        </p:nvSpPr>
        <p:spPr>
          <a:xfrm>
            <a:off x="411902" y="3463300"/>
            <a:ext cx="1892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00"/>
              <a:buFont typeface="Helvetica Neue"/>
              <a:buNone/>
            </a:pPr>
            <a:r>
              <a:rPr b="0" i="0" lang="en" sz="1100" u="none" cap="none" strike="noStrike">
                <a:solidFill>
                  <a:srgbClr val="3FB95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</a:t>
            </a:r>
            <a:r>
              <a:rPr b="0" i="0" lang="en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Deduplicates on stripe_event_id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00"/>
              <a:buFont typeface="Helvetica Neue"/>
              <a:buNone/>
            </a:pPr>
            <a:r>
              <a:rPr b="0" i="0" lang="en" sz="1100" u="none" cap="none" strike="noStrike">
                <a:solidFill>
                  <a:srgbClr val="3FB95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</a:t>
            </a:r>
            <a:r>
              <a:rPr b="0" i="0" lang="en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Saves raw webhook to S3</a:t>
            </a:r>
            <a:endParaRPr sz="1100"/>
          </a:p>
        </p:txBody>
      </p:sp>
      <p:sp>
        <p:nvSpPr>
          <p:cNvPr id="118" name="Google Shape;118;p25"/>
          <p:cNvSpPr txBox="1"/>
          <p:nvPr/>
        </p:nvSpPr>
        <p:spPr>
          <a:xfrm>
            <a:off x="2400164" y="735750"/>
            <a:ext cx="1006873" cy="193652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In-Person (Victor)</a:t>
            </a:r>
            <a:endParaRPr sz="1100"/>
          </a:p>
        </p:txBody>
      </p:sp>
      <p:sp>
        <p:nvSpPr>
          <p:cNvPr id="119" name="Google Shape;119;p25"/>
          <p:cNvSpPr/>
          <p:nvPr/>
        </p:nvSpPr>
        <p:spPr>
          <a:xfrm>
            <a:off x="2386667" y="1028699"/>
            <a:ext cx="1892635" cy="2263142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5"/>
          <p:cNvSpPr txBox="1"/>
          <p:nvPr/>
        </p:nvSpPr>
        <p:spPr>
          <a:xfrm>
            <a:off x="2475759" y="1125343"/>
            <a:ext cx="1714500" cy="14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PUT /mark-paid-in-person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↓ validate user.customer == citation.customer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Mutate Citations directly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amount_paid = due_amount </a:t>
            </a:r>
            <a:r>
              <a:rPr b="0" i="0" lang="en" sz="1100" u="none" cap="none" strike="noStrike">
                <a:solidFill>
                  <a:srgbClr val="3FB95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</a:t>
            </a: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payment_source = "in_person"</a:t>
            </a:r>
            <a:endParaRPr sz="1100"/>
          </a:p>
        </p:txBody>
      </p:sp>
      <p:sp>
        <p:nvSpPr>
          <p:cNvPr id="121" name="Google Shape;121;p25"/>
          <p:cNvSpPr/>
          <p:nvPr/>
        </p:nvSpPr>
        <p:spPr>
          <a:xfrm>
            <a:off x="2386672" y="3391150"/>
            <a:ext cx="1892700" cy="1234500"/>
          </a:xfrm>
          <a:prstGeom prst="rect">
            <a:avLst/>
          </a:prstGeom>
          <a:solidFill>
            <a:srgbClr val="1F100D"/>
          </a:solidFill>
          <a:ln cap="flat" cmpd="sng" w="9525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5"/>
          <p:cNvSpPr txBox="1"/>
          <p:nvPr/>
        </p:nvSpPr>
        <p:spPr>
          <a:xfrm>
            <a:off x="2481299" y="3459731"/>
            <a:ext cx="17031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800"/>
              <a:buFont typeface="Helvetica Neue"/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800"/>
              <a:buFont typeface="Helvetica Neue"/>
              <a:buNone/>
            </a:pPr>
            <a:r>
              <a:rPr b="0" i="0" lang="en" sz="1100" u="none" cap="none" strike="noStrike">
                <a:solidFill>
                  <a:srgbClr val="FF7B7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✕ </a:t>
            </a:r>
            <a:r>
              <a:rPr b="0" i="0" lang="en" sz="11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No CitationActivityLog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800"/>
              <a:buFont typeface="Helvetica Neue"/>
              <a:buNone/>
            </a:pPr>
            <a:r>
              <a:rPr b="0" i="0" lang="en" sz="1100" u="none" cap="none" strike="noStrike">
                <a:solidFill>
                  <a:srgbClr val="FF7B7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✕ </a:t>
            </a:r>
            <a:r>
              <a:rPr b="0" i="0" lang="en" sz="11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Invisible to reporting in ca</a:t>
            </a:r>
            <a:r>
              <a:rPr lang="en" sz="1100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se of refunds</a:t>
            </a:r>
            <a:endParaRPr sz="1100"/>
          </a:p>
        </p:txBody>
      </p:sp>
      <p:sp>
        <p:nvSpPr>
          <p:cNvPr id="123" name="Google Shape;123;p25"/>
          <p:cNvSpPr txBox="1"/>
          <p:nvPr/>
        </p:nvSpPr>
        <p:spPr>
          <a:xfrm>
            <a:off x="4358211" y="761212"/>
            <a:ext cx="2677410" cy="193652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Check (IMP)</a:t>
            </a:r>
            <a:endParaRPr sz="1100"/>
          </a:p>
        </p:txBody>
      </p:sp>
      <p:sp>
        <p:nvSpPr>
          <p:cNvPr id="124" name="Google Shape;124;p25"/>
          <p:cNvSpPr/>
          <p:nvPr/>
        </p:nvSpPr>
        <p:spPr>
          <a:xfrm>
            <a:off x="4352490" y="1016482"/>
            <a:ext cx="2139793" cy="226314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5"/>
          <p:cNvSpPr txBox="1"/>
          <p:nvPr/>
        </p:nvSpPr>
        <p:spPr>
          <a:xfrm>
            <a:off x="4455473" y="1022200"/>
            <a:ext cx="1941300" cy="14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POST /add-mail-with-urls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↓ validate citation exists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CheckbookCheckDetails(amount=4000)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↓ deposited_at = cleared_at = now()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Mutate Citations directly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CitationActivityLog created </a:t>
            </a:r>
            <a:r>
              <a:rPr b="0" i="0" lang="en" sz="1100" u="none" cap="none" strike="noStrike">
                <a:solidFill>
                  <a:srgbClr val="3FB95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</a:t>
            </a:r>
            <a:endParaRPr sz="1100"/>
          </a:p>
        </p:txBody>
      </p:sp>
      <p:sp>
        <p:nvSpPr>
          <p:cNvPr id="126" name="Google Shape;126;p25"/>
          <p:cNvSpPr/>
          <p:nvPr/>
        </p:nvSpPr>
        <p:spPr>
          <a:xfrm>
            <a:off x="4352650" y="3391175"/>
            <a:ext cx="2139900" cy="1234500"/>
          </a:xfrm>
          <a:prstGeom prst="rect">
            <a:avLst/>
          </a:prstGeom>
          <a:solidFill>
            <a:srgbClr val="1F100D"/>
          </a:solidFill>
          <a:ln cap="flat" cmpd="sng" w="9525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5"/>
          <p:cNvSpPr txBox="1"/>
          <p:nvPr/>
        </p:nvSpPr>
        <p:spPr>
          <a:xfrm>
            <a:off x="4459633" y="3459756"/>
            <a:ext cx="19257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800"/>
              <a:buFont typeface="Helvetica Neue"/>
              <a:buNone/>
            </a:pPr>
            <a:r>
              <a:rPr b="0" i="0" lang="en" sz="1100" u="none" cap="none" strike="noStrike">
                <a:solidFill>
                  <a:srgbClr val="FF7B7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✕ </a:t>
            </a:r>
            <a:r>
              <a:rPr b="0" i="0" lang="en" sz="11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Amount always $40 — hardcoded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800"/>
              <a:buFont typeface="Helvetica Neue"/>
              <a:buNone/>
            </a:pPr>
            <a:r>
              <a:rPr b="0" i="0" lang="en" sz="1100" u="none" cap="none" strike="noStrike">
                <a:solidFill>
                  <a:srgbClr val="FF7B7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✕ </a:t>
            </a:r>
            <a:r>
              <a:rPr b="0" i="0" lang="en" sz="11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Deposited = Cleared = now()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800"/>
              <a:buFont typeface="Helvetica Neue"/>
              <a:buNone/>
            </a:pPr>
            <a:r>
              <a:rPr b="0" i="0" lang="en" sz="1100" u="none" cap="none" strike="noStrike">
                <a:solidFill>
                  <a:srgbClr val="FF7B7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✕ </a:t>
            </a:r>
            <a:r>
              <a:rPr b="0" i="0" lang="en" sz="11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No rollback if check returned</a:t>
            </a:r>
            <a:endParaRPr sz="1100"/>
          </a:p>
        </p:txBody>
      </p:sp>
      <p:sp>
        <p:nvSpPr>
          <p:cNvPr id="128" name="Google Shape;128;p25"/>
          <p:cNvSpPr txBox="1"/>
          <p:nvPr/>
        </p:nvSpPr>
        <p:spPr>
          <a:xfrm>
            <a:off x="6571191" y="759188"/>
            <a:ext cx="2677410" cy="193652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Financial Reports</a:t>
            </a:r>
            <a:endParaRPr sz="1100"/>
          </a:p>
        </p:txBody>
      </p:sp>
      <p:sp>
        <p:nvSpPr>
          <p:cNvPr id="129" name="Google Shape;129;p25"/>
          <p:cNvSpPr/>
          <p:nvPr/>
        </p:nvSpPr>
        <p:spPr>
          <a:xfrm>
            <a:off x="6565471" y="1016482"/>
            <a:ext cx="2286871" cy="226314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6668450" y="1020175"/>
            <a:ext cx="20916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Multi-process daemon. Queries Stripe + Checkbook + Citations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tables every 4 hrs. Generates CSV → S3.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Stack: FastAPI · Pandas · S3</a:t>
            </a:r>
            <a:endParaRPr sz="1100"/>
          </a:p>
        </p:txBody>
      </p:sp>
      <p:sp>
        <p:nvSpPr>
          <p:cNvPr id="131" name="Google Shape;131;p25"/>
          <p:cNvSpPr/>
          <p:nvPr/>
        </p:nvSpPr>
        <p:spPr>
          <a:xfrm>
            <a:off x="6565825" y="3394700"/>
            <a:ext cx="2139900" cy="1234500"/>
          </a:xfrm>
          <a:prstGeom prst="rect">
            <a:avLst/>
          </a:prstGeom>
          <a:solidFill>
            <a:srgbClr val="1F100D"/>
          </a:solidFill>
          <a:ln cap="flat" cmpd="sng" w="9525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6672808" y="3463281"/>
            <a:ext cx="19257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800"/>
              <a:buFont typeface="Helvetica Neue"/>
              <a:buNone/>
            </a:pPr>
            <a:r>
              <a:rPr b="0" i="0" lang="en" sz="1100" u="none" cap="none" strike="noStrike">
                <a:solidFill>
                  <a:srgbClr val="FF7B7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✕ </a:t>
            </a:r>
            <a:r>
              <a:rPr lang="en" sz="1100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Produced from vendor_specific tables using multiple joins and varying conditions</a:t>
            </a:r>
            <a:endParaRPr sz="1100">
              <a:solidFill>
                <a:srgbClr val="FF7B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800"/>
              <a:buFont typeface="Helvetica Neue"/>
              <a:buNone/>
            </a:pPr>
            <a:r>
              <a:t/>
            </a:r>
            <a:endParaRPr sz="1100">
              <a:solidFill>
                <a:srgbClr val="FF7B7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/>
          <p:nvPr/>
        </p:nvSpPr>
        <p:spPr>
          <a:xfrm>
            <a:off x="343257" y="240030"/>
            <a:ext cx="8464733" cy="27433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6"/>
          <p:cNvSpPr txBox="1"/>
          <p:nvPr/>
        </p:nvSpPr>
        <p:spPr>
          <a:xfrm>
            <a:off x="377583" y="288035"/>
            <a:ext cx="83961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Current System — What's Broken</a:t>
            </a:r>
            <a:endParaRPr sz="1100"/>
          </a:p>
        </p:txBody>
      </p:sp>
      <p:sp>
        <p:nvSpPr>
          <p:cNvPr id="139" name="Google Shape;139;p26"/>
          <p:cNvSpPr/>
          <p:nvPr/>
        </p:nvSpPr>
        <p:spPr>
          <a:xfrm>
            <a:off x="4737000" y="2761331"/>
            <a:ext cx="4119000" cy="2286900"/>
          </a:xfrm>
          <a:prstGeom prst="rect">
            <a:avLst/>
          </a:prstGeom>
          <a:solidFill>
            <a:srgbClr val="1A100D"/>
          </a:solidFill>
          <a:ln cap="flat" cmpd="sng" w="9525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4874309" y="2766908"/>
            <a:ext cx="3844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800"/>
              <a:buFont typeface="Calibri"/>
              <a:buNone/>
            </a:pPr>
            <a:r>
              <a:rPr b="1" i="0" lang="en" sz="11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Financial Correctness</a:t>
            </a:r>
            <a:endParaRPr sz="1100"/>
          </a:p>
        </p:txBody>
      </p:sp>
      <p:sp>
        <p:nvSpPr>
          <p:cNvPr id="141" name="Google Shape;141;p26"/>
          <p:cNvSpPr txBox="1"/>
          <p:nvPr/>
        </p:nvSpPr>
        <p:spPr>
          <a:xfrm>
            <a:off x="4874300" y="3022700"/>
            <a:ext cx="3844500" cy="19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800"/>
              <a:buFont typeface="Helvetica Neue"/>
              <a:buNone/>
            </a:pPr>
            <a:r>
              <a:rPr b="1" i="0" lang="en" sz="1100" u="none" cap="none" strike="noStrike">
                <a:solidFill>
                  <a:srgbClr val="FF7B7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✕  </a:t>
            </a:r>
            <a:r>
              <a:rPr b="1" i="0" lang="en" sz="11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No immutable ledger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All balances live in mutable Citations fields. </a:t>
            </a:r>
            <a:endParaRPr sz="11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t/>
            </a:r>
            <a:endParaRPr sz="11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800"/>
              <a:buFont typeface="Helvetica Neue"/>
              <a:buNone/>
            </a:pPr>
            <a:r>
              <a:rPr b="1" i="0" lang="en" sz="1100" u="none" cap="none" strike="noStrike">
                <a:solidFill>
                  <a:srgbClr val="FF7B7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✕  </a:t>
            </a:r>
            <a:r>
              <a:rPr b="1" i="0" lang="en" sz="11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Hardcoded check amount ($40) + wrong timestamps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IMP always records $40 regardless of the actual check. check_deposited_at 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lang="en" sz="11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Refunds cannot be supported by checks</a:t>
            </a:r>
            <a:endParaRPr sz="11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t/>
            </a:r>
            <a:endParaRPr sz="11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800"/>
              <a:buFont typeface="Helvetica Neue"/>
              <a:buNone/>
            </a:pPr>
            <a:r>
              <a:rPr b="1" i="0" lang="en" sz="1100" u="none" cap="none" strike="noStrike">
                <a:solidFill>
                  <a:srgbClr val="FF7B7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✕  </a:t>
            </a:r>
            <a:r>
              <a:rPr b="1" i="0" lang="en" sz="11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In-person leaves no financial record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Victor mutates the citation but creates no payment record.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lang="en" sz="11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In case of reversal, Citation record has to be updated</a:t>
            </a:r>
            <a:endParaRPr sz="1100"/>
          </a:p>
        </p:txBody>
      </p:sp>
      <p:sp>
        <p:nvSpPr>
          <p:cNvPr id="142" name="Google Shape;142;p26"/>
          <p:cNvSpPr/>
          <p:nvPr/>
        </p:nvSpPr>
        <p:spPr>
          <a:xfrm>
            <a:off x="4736950" y="384165"/>
            <a:ext cx="4119000" cy="2286900"/>
          </a:xfrm>
          <a:prstGeom prst="rect">
            <a:avLst/>
          </a:prstGeom>
          <a:solidFill>
            <a:srgbClr val="1A100D"/>
          </a:solidFill>
          <a:ln cap="flat" cmpd="sng" w="9525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4874251" y="454303"/>
            <a:ext cx="3844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800"/>
              <a:buFont typeface="Calibri"/>
              <a:buNone/>
            </a:pPr>
            <a:r>
              <a:rPr b="1" i="0" lang="en" sz="11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Auditability &amp; Reporting</a:t>
            </a:r>
            <a:endParaRPr sz="1100"/>
          </a:p>
        </p:txBody>
      </p:sp>
      <p:sp>
        <p:nvSpPr>
          <p:cNvPr id="144" name="Google Shape;144;p26"/>
          <p:cNvSpPr txBox="1"/>
          <p:nvPr/>
        </p:nvSpPr>
        <p:spPr>
          <a:xfrm>
            <a:off x="4874261" y="692783"/>
            <a:ext cx="3844500" cy="17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800"/>
              <a:buFont typeface="Helvetica Neue"/>
              <a:buNone/>
            </a:pPr>
            <a:r>
              <a:rPr b="1" i="0" lang="en" sz="1100" u="none" cap="none" strike="noStrike">
                <a:solidFill>
                  <a:srgbClr val="FF7B7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✕  </a:t>
            </a:r>
            <a:r>
              <a:rPr b="1" i="0" lang="en" sz="11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Audit trail is incomplete and inconsistent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IMP creates CitationActivityLog for most workflows. Victor creates none —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lang="en" sz="11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n-person payment </a:t>
            </a:r>
            <a:r>
              <a:rPr lang="en" sz="11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audit needs support of system logs to support audits</a:t>
            </a:r>
            <a:endParaRPr sz="11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800"/>
              <a:buFont typeface="Helvetica Neue"/>
              <a:buNone/>
            </a:pPr>
            <a:r>
              <a:rPr b="1" i="0" lang="en" sz="1100" u="none" cap="none" strike="noStrike">
                <a:solidFill>
                  <a:srgbClr val="FF7B7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✕  </a:t>
            </a:r>
            <a:r>
              <a:rPr b="1" i="0" lang="en" sz="11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Reports join drifting tables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Report Manager joins StripePaymentCharges, CheckbookCheckDetails, and Citations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— sources that can fall out of sync.</a:t>
            </a:r>
            <a:endParaRPr sz="1100"/>
          </a:p>
        </p:txBody>
      </p:sp>
      <p:sp>
        <p:nvSpPr>
          <p:cNvPr id="145" name="Google Shape;145;p26"/>
          <p:cNvSpPr/>
          <p:nvPr/>
        </p:nvSpPr>
        <p:spPr>
          <a:xfrm>
            <a:off x="343250" y="643028"/>
            <a:ext cx="4119000" cy="4405200"/>
          </a:xfrm>
          <a:prstGeom prst="rect">
            <a:avLst/>
          </a:prstGeom>
          <a:solidFill>
            <a:srgbClr val="1A100D"/>
          </a:solidFill>
          <a:ln cap="flat" cmpd="sng" w="9525">
            <a:solidFill>
              <a:srgbClr val="FF7B7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480557" y="724778"/>
            <a:ext cx="3844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800"/>
              <a:buFont typeface="Calibri"/>
              <a:buNone/>
            </a:pPr>
            <a:r>
              <a:rPr b="1" i="0" lang="en" sz="11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Maintainability </a:t>
            </a:r>
            <a:r>
              <a:rPr b="1" lang="en" sz="1100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&amp; Enhancement</a:t>
            </a:r>
            <a:endParaRPr sz="1100"/>
          </a:p>
        </p:txBody>
      </p:sp>
      <p:sp>
        <p:nvSpPr>
          <p:cNvPr id="147" name="Google Shape;147;p26"/>
          <p:cNvSpPr txBox="1"/>
          <p:nvPr/>
        </p:nvSpPr>
        <p:spPr>
          <a:xfrm>
            <a:off x="480550" y="998900"/>
            <a:ext cx="3844500" cy="3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800"/>
              <a:buFont typeface="Helvetica Neue"/>
              <a:buNone/>
            </a:pPr>
            <a:r>
              <a:rPr b="1" i="0" lang="en" sz="1100" u="none" cap="none" strike="noStrike">
                <a:solidFill>
                  <a:srgbClr val="FF7B7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✕  </a:t>
            </a:r>
            <a:r>
              <a:rPr b="1" i="0" lang="en" sz="11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Business logic scattered across services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Payment rules live in Victor's webhook controller, IMP's Flask routes, </a:t>
            </a:r>
            <a:r>
              <a:rPr lang="en" sz="11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Backbone Api</a:t>
            </a:r>
            <a:endParaRPr sz="11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t/>
            </a:r>
            <a:endParaRPr sz="11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800"/>
              <a:buFont typeface="Helvetica Neue"/>
              <a:buNone/>
            </a:pPr>
            <a:r>
              <a:rPr b="1" lang="en" sz="1100">
                <a:solidFill>
                  <a:srgbClr val="FF7B7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✕  </a:t>
            </a:r>
            <a:r>
              <a:rPr b="1" lang="en" sz="1100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Vendor Lock In</a:t>
            </a:r>
            <a:endParaRPr b="1" sz="1100">
              <a:solidFill>
                <a:srgbClr val="FF7B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lang="en" sz="11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Business Logic &amp; Implementation integrated within Vendor Ecosystem. </a:t>
            </a:r>
            <a:endParaRPr sz="11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lang="en" sz="11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Difficult to add additional vendors</a:t>
            </a:r>
            <a:endParaRPr sz="11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t/>
            </a:r>
            <a:endParaRPr sz="11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800"/>
              <a:buFont typeface="Helvetica Neue"/>
              <a:buNone/>
            </a:pPr>
            <a:r>
              <a:rPr b="1" lang="en" sz="1100">
                <a:solidFill>
                  <a:srgbClr val="FF7B7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✕  </a:t>
            </a:r>
            <a:r>
              <a:rPr b="1" lang="en" sz="1100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Payments Directly Coupled with Individual Citations</a:t>
            </a:r>
            <a:endParaRPr b="1" sz="1100">
              <a:solidFill>
                <a:srgbClr val="FF7B7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lang="en" sz="11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Payments can only be received against an individual citation.</a:t>
            </a:r>
            <a:endParaRPr sz="11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lang="en" sz="11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 Bulk Payments support is built using a workaround rather than the system’s inherent ability to support it</a:t>
            </a:r>
            <a:endParaRPr sz="11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lang="en" sz="11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Additional Payments like Flag Payments Cannot be Supported.</a:t>
            </a:r>
            <a:endParaRPr sz="11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t/>
            </a:r>
            <a:endParaRPr sz="11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lang="en" sz="11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Online Payment: 1 Citation =&gt; 1 Transaction</a:t>
            </a:r>
            <a:endParaRPr sz="11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lang="en" sz="11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High vendor fees</a:t>
            </a:r>
            <a:endParaRPr sz="11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lang="en" sz="11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Temporary  saving of credit card information on Stripe ( safe but an issue of optics )</a:t>
            </a:r>
            <a:endParaRPr sz="11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lang="en" sz="11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Incomplete Payment during Bulk Payments for reasons like insufficient funds </a:t>
            </a:r>
            <a:endParaRPr sz="11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t/>
            </a:r>
            <a:endParaRPr sz="11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/>
        </p:nvSpPr>
        <p:spPr>
          <a:xfrm>
            <a:off x="5869704" y="342900"/>
            <a:ext cx="3020668" cy="197224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028"/>
              </a:buClr>
              <a:buSzPts val="15000"/>
              <a:buFont typeface="Calibri"/>
              <a:buNone/>
            </a:pPr>
            <a:r>
              <a:rPr b="1" i="0" lang="en" sz="15000" u="none" cap="none" strike="noStrike">
                <a:solidFill>
                  <a:srgbClr val="1A202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/>
          </a:p>
        </p:txBody>
      </p:sp>
      <p:sp>
        <p:nvSpPr>
          <p:cNvPr id="153" name="Google Shape;153;p27"/>
          <p:cNvSpPr/>
          <p:nvPr/>
        </p:nvSpPr>
        <p:spPr>
          <a:xfrm>
            <a:off x="343257" y="1371600"/>
            <a:ext cx="54923" cy="1714500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7"/>
          <p:cNvSpPr txBox="1"/>
          <p:nvPr/>
        </p:nvSpPr>
        <p:spPr>
          <a:xfrm>
            <a:off x="549211" y="1440179"/>
            <a:ext cx="6109986" cy="598558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200"/>
              <a:buFont typeface="Calibri"/>
              <a:buNone/>
            </a:pPr>
            <a:r>
              <a:rPr b="1" i="0" lang="en" sz="4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Gringotts</a:t>
            </a:r>
            <a:endParaRPr sz="1100"/>
          </a:p>
        </p:txBody>
      </p:sp>
      <p:sp>
        <p:nvSpPr>
          <p:cNvPr id="155" name="Google Shape;155;p27"/>
          <p:cNvSpPr txBox="1"/>
          <p:nvPr/>
        </p:nvSpPr>
        <p:spPr>
          <a:xfrm>
            <a:off x="549211" y="2503169"/>
            <a:ext cx="5766729" cy="38205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 ledger-first, event-driven payment orchestration system built on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immutability, auditability, and clean separation of concerns.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/>
          <p:nvPr/>
        </p:nvSpPr>
        <p:spPr>
          <a:xfrm>
            <a:off x="343257" y="240030"/>
            <a:ext cx="8464733" cy="27433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8"/>
          <p:cNvSpPr txBox="1"/>
          <p:nvPr/>
        </p:nvSpPr>
        <p:spPr>
          <a:xfrm>
            <a:off x="377583" y="288035"/>
            <a:ext cx="8396081" cy="289033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Gringotts — Design Philosophy</a:t>
            </a:r>
            <a:endParaRPr sz="1100"/>
          </a:p>
        </p:txBody>
      </p:sp>
      <p:sp>
        <p:nvSpPr>
          <p:cNvPr id="162" name="Google Shape;162;p28"/>
          <p:cNvSpPr/>
          <p:nvPr/>
        </p:nvSpPr>
        <p:spPr>
          <a:xfrm>
            <a:off x="274605" y="822960"/>
            <a:ext cx="2746061" cy="137160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411909" y="891539"/>
            <a:ext cx="2471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Ledger is Source of Truth</a:t>
            </a:r>
            <a:endParaRPr sz="1000"/>
          </a:p>
        </p:txBody>
      </p:sp>
      <p:sp>
        <p:nvSpPr>
          <p:cNvPr id="164" name="Google Shape;164;p28"/>
          <p:cNvSpPr txBox="1"/>
          <p:nvPr/>
        </p:nvSpPr>
        <p:spPr>
          <a:xfrm>
            <a:off x="411909" y="1165859"/>
            <a:ext cx="24714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All balances are derived from immutable ledger entries.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Citation fields and cart statuses are computed, never authoritative.</a:t>
            </a:r>
            <a:endParaRPr sz="1000"/>
          </a:p>
        </p:txBody>
      </p:sp>
      <p:sp>
        <p:nvSpPr>
          <p:cNvPr id="165" name="Google Shape;165;p28"/>
          <p:cNvSpPr/>
          <p:nvPr/>
        </p:nvSpPr>
        <p:spPr>
          <a:xfrm>
            <a:off x="3212890" y="822960"/>
            <a:ext cx="2746061" cy="137160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3350194" y="891539"/>
            <a:ext cx="2471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Immutability Over Mutation</a:t>
            </a:r>
            <a:endParaRPr sz="1000"/>
          </a:p>
        </p:txBody>
      </p:sp>
      <p:sp>
        <p:nvSpPr>
          <p:cNvPr id="167" name="Google Shape;167;p28"/>
          <p:cNvSpPr txBox="1"/>
          <p:nvPr/>
        </p:nvSpPr>
        <p:spPr>
          <a:xfrm>
            <a:off x="3350194" y="1165859"/>
            <a:ext cx="24714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Financial history is append-only. No overwriting. A full payment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timeline is reconstructable from the ledger alone.</a:t>
            </a:r>
            <a:endParaRPr sz="1000"/>
          </a:p>
        </p:txBody>
      </p:sp>
      <p:sp>
        <p:nvSpPr>
          <p:cNvPr id="168" name="Google Shape;168;p28"/>
          <p:cNvSpPr/>
          <p:nvPr/>
        </p:nvSpPr>
        <p:spPr>
          <a:xfrm>
            <a:off x="6151175" y="822960"/>
            <a:ext cx="2746061" cy="137160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8"/>
          <p:cNvSpPr txBox="1"/>
          <p:nvPr/>
        </p:nvSpPr>
        <p:spPr>
          <a:xfrm>
            <a:off x="6288478" y="891539"/>
            <a:ext cx="2471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Event-Driven State</a:t>
            </a:r>
            <a:endParaRPr sz="1000"/>
          </a:p>
        </p:txBody>
      </p:sp>
      <p:sp>
        <p:nvSpPr>
          <p:cNvPr id="170" name="Google Shape;170;p28"/>
          <p:cNvSpPr txBox="1"/>
          <p:nvPr/>
        </p:nvSpPr>
        <p:spPr>
          <a:xfrm>
            <a:off x="6288478" y="1165859"/>
            <a:ext cx="24714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Vendor signals (Stripe webhooks, CheckAlt drops) drive state transitions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asynchronously. The API never waits for vendors.</a:t>
            </a:r>
            <a:endParaRPr sz="1000"/>
          </a:p>
        </p:txBody>
      </p:sp>
      <p:sp>
        <p:nvSpPr>
          <p:cNvPr id="171" name="Google Shape;171;p28"/>
          <p:cNvSpPr/>
          <p:nvPr/>
        </p:nvSpPr>
        <p:spPr>
          <a:xfrm>
            <a:off x="274605" y="2331720"/>
            <a:ext cx="2746061" cy="137160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8"/>
          <p:cNvSpPr txBox="1"/>
          <p:nvPr/>
        </p:nvSpPr>
        <p:spPr>
          <a:xfrm>
            <a:off x="411909" y="2400299"/>
            <a:ext cx="2471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Idempotency by Default</a:t>
            </a:r>
            <a:endParaRPr sz="1000"/>
          </a:p>
        </p:txBody>
      </p:sp>
      <p:sp>
        <p:nvSpPr>
          <p:cNvPr id="173" name="Google Shape;173;p28"/>
          <p:cNvSpPr txBox="1"/>
          <p:nvPr/>
        </p:nvSpPr>
        <p:spPr>
          <a:xfrm>
            <a:off x="411909" y="2674619"/>
            <a:ext cx="24714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Every processor is safe to replay. Duplicate webhook delivery, queue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retries, or manual replays produce the same result.</a:t>
            </a:r>
            <a:endParaRPr sz="1000"/>
          </a:p>
        </p:txBody>
      </p:sp>
      <p:sp>
        <p:nvSpPr>
          <p:cNvPr id="174" name="Google Shape;174;p28"/>
          <p:cNvSpPr/>
          <p:nvPr/>
        </p:nvSpPr>
        <p:spPr>
          <a:xfrm>
            <a:off x="3212890" y="2331720"/>
            <a:ext cx="2746061" cy="137160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3350194" y="2400299"/>
            <a:ext cx="2471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Vendor Agnostic</a:t>
            </a:r>
            <a:endParaRPr sz="1000"/>
          </a:p>
        </p:txBody>
      </p:sp>
      <p:sp>
        <p:nvSpPr>
          <p:cNvPr id="176" name="Google Shape;176;p28"/>
          <p:cNvSpPr txBox="1"/>
          <p:nvPr/>
        </p:nvSpPr>
        <p:spPr>
          <a:xfrm>
            <a:off x="3350194" y="2674619"/>
            <a:ext cx="2471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Core event processor has zero vendor imports. Adding a new payment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processor means adding one vendor module.</a:t>
            </a:r>
            <a:endParaRPr sz="1000"/>
          </a:p>
        </p:txBody>
      </p:sp>
      <p:sp>
        <p:nvSpPr>
          <p:cNvPr id="177" name="Google Shape;177;p28"/>
          <p:cNvSpPr/>
          <p:nvPr/>
        </p:nvSpPr>
        <p:spPr>
          <a:xfrm>
            <a:off x="6151175" y="2331720"/>
            <a:ext cx="2746061" cy="137160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8"/>
          <p:cNvSpPr txBox="1"/>
          <p:nvPr/>
        </p:nvSpPr>
        <p:spPr>
          <a:xfrm>
            <a:off x="6288478" y="2400299"/>
            <a:ext cx="2471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Full Auditability</a:t>
            </a:r>
            <a:endParaRPr sz="1000"/>
          </a:p>
        </p:txBody>
      </p:sp>
      <p:sp>
        <p:nvSpPr>
          <p:cNvPr id="179" name="Google Shape;179;p28"/>
          <p:cNvSpPr txBox="1"/>
          <p:nvPr/>
        </p:nvSpPr>
        <p:spPr>
          <a:xfrm>
            <a:off x="6288478" y="2674619"/>
            <a:ext cx="2471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Every state change produces an AuditLog with before/after snapshots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and correlation IDs linking related events.</a:t>
            </a:r>
            <a:endParaRPr sz="1000"/>
          </a:p>
        </p:txBody>
      </p:sp>
      <p:sp>
        <p:nvSpPr>
          <p:cNvPr id="180" name="Google Shape;180;p28"/>
          <p:cNvSpPr/>
          <p:nvPr/>
        </p:nvSpPr>
        <p:spPr>
          <a:xfrm>
            <a:off x="274605" y="3840480"/>
            <a:ext cx="8464733" cy="857251"/>
          </a:xfrm>
          <a:prstGeom prst="rect">
            <a:avLst/>
          </a:prstGeom>
          <a:solidFill>
            <a:srgbClr val="0A140A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720840" y="3895343"/>
            <a:ext cx="2334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Intent Layer</a:t>
            </a:r>
            <a:endParaRPr sz="1000"/>
          </a:p>
        </p:txBody>
      </p:sp>
      <p:sp>
        <p:nvSpPr>
          <p:cNvPr id="182" name="Google Shape;182;p28"/>
          <p:cNvSpPr txBox="1"/>
          <p:nvPr/>
        </p:nvSpPr>
        <p:spPr>
          <a:xfrm>
            <a:off x="720840" y="4149090"/>
            <a:ext cx="2334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API + Cart</a:t>
            </a:r>
            <a:endParaRPr sz="1000"/>
          </a:p>
        </p:txBody>
      </p:sp>
      <p:sp>
        <p:nvSpPr>
          <p:cNvPr id="183" name="Google Shape;183;p28"/>
          <p:cNvSpPr txBox="1"/>
          <p:nvPr/>
        </p:nvSpPr>
        <p:spPr>
          <a:xfrm>
            <a:off x="3192295" y="4046219"/>
            <a:ext cx="20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000"/>
          </a:p>
        </p:txBody>
      </p:sp>
      <p:sp>
        <p:nvSpPr>
          <p:cNvPr id="184" name="Google Shape;184;p28"/>
          <p:cNvSpPr txBox="1"/>
          <p:nvPr/>
        </p:nvSpPr>
        <p:spPr>
          <a:xfrm>
            <a:off x="3535553" y="3895343"/>
            <a:ext cx="2334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Processing Layer</a:t>
            </a:r>
            <a:endParaRPr sz="1000"/>
          </a:p>
        </p:txBody>
      </p:sp>
      <p:sp>
        <p:nvSpPr>
          <p:cNvPr id="185" name="Google Shape;185;p28"/>
          <p:cNvSpPr txBox="1"/>
          <p:nvPr/>
        </p:nvSpPr>
        <p:spPr>
          <a:xfrm>
            <a:off x="3535553" y="4149090"/>
            <a:ext cx="2334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Events + Ledger</a:t>
            </a:r>
            <a:endParaRPr sz="1000"/>
          </a:p>
        </p:txBody>
      </p:sp>
      <p:sp>
        <p:nvSpPr>
          <p:cNvPr id="186" name="Google Shape;186;p28"/>
          <p:cNvSpPr txBox="1"/>
          <p:nvPr/>
        </p:nvSpPr>
        <p:spPr>
          <a:xfrm>
            <a:off x="6007006" y="4046219"/>
            <a:ext cx="20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000"/>
          </a:p>
        </p:txBody>
      </p:sp>
      <p:sp>
        <p:nvSpPr>
          <p:cNvPr id="187" name="Google Shape;187;p28"/>
          <p:cNvSpPr txBox="1"/>
          <p:nvPr/>
        </p:nvSpPr>
        <p:spPr>
          <a:xfrm>
            <a:off x="6350265" y="3895343"/>
            <a:ext cx="2334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Derived State</a:t>
            </a:r>
            <a:endParaRPr sz="1000"/>
          </a:p>
        </p:txBody>
      </p:sp>
      <p:sp>
        <p:nvSpPr>
          <p:cNvPr id="188" name="Google Shape;188;p28"/>
          <p:cNvSpPr txBox="1"/>
          <p:nvPr/>
        </p:nvSpPr>
        <p:spPr>
          <a:xfrm>
            <a:off x="6350265" y="4149090"/>
            <a:ext cx="2334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Carts + Obligations + Citations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/>
          <p:nvPr/>
        </p:nvSpPr>
        <p:spPr>
          <a:xfrm>
            <a:off x="343257" y="240030"/>
            <a:ext cx="8464733" cy="27433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9"/>
          <p:cNvSpPr txBox="1"/>
          <p:nvPr/>
        </p:nvSpPr>
        <p:spPr>
          <a:xfrm>
            <a:off x="377583" y="288035"/>
            <a:ext cx="8396081" cy="289033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Core Data Models</a:t>
            </a:r>
            <a:endParaRPr sz="1100"/>
          </a:p>
        </p:txBody>
      </p:sp>
      <p:sp>
        <p:nvSpPr>
          <p:cNvPr id="195" name="Google Shape;195;p29"/>
          <p:cNvSpPr/>
          <p:nvPr/>
        </p:nvSpPr>
        <p:spPr>
          <a:xfrm>
            <a:off x="274606" y="754379"/>
            <a:ext cx="4256394" cy="188595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9"/>
          <p:cNvSpPr/>
          <p:nvPr/>
        </p:nvSpPr>
        <p:spPr>
          <a:xfrm>
            <a:off x="377583" y="836675"/>
            <a:ext cx="961122" cy="192025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432504" y="813045"/>
            <a:ext cx="864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Obligation</a:t>
            </a:r>
            <a:endParaRPr sz="1000"/>
          </a:p>
        </p:txBody>
      </p:sp>
      <p:sp>
        <p:nvSpPr>
          <p:cNvPr id="198" name="Google Shape;198;p29"/>
          <p:cNvSpPr txBox="1"/>
          <p:nvPr/>
        </p:nvSpPr>
        <p:spPr>
          <a:xfrm>
            <a:off x="411908" y="1076706"/>
            <a:ext cx="3981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What someone owes. One per citation fee, late fee,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flagging fee, or convenience fee.</a:t>
            </a:r>
            <a:endParaRPr sz="1000"/>
          </a:p>
        </p:txBody>
      </p:sp>
      <p:sp>
        <p:nvSpPr>
          <p:cNvPr id="199" name="Google Shape;199;p29"/>
          <p:cNvSpPr txBox="1"/>
          <p:nvPr/>
        </p:nvSpPr>
        <p:spPr>
          <a:xfrm>
            <a:off x="411908" y="1474470"/>
            <a:ext cx="39819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amount: original owed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allocated_total: sum of settled ledger allocations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outstanding_amount = amount − allocated_total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overpaid_amount: if allocated &gt; amount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waived_amount: forgiven (not paid)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status: open ↔ locked → closed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(↓ waived, ↓ superseded, ↓ disputed)</a:t>
            </a:r>
            <a:endParaRPr sz="1000"/>
          </a:p>
        </p:txBody>
      </p:sp>
      <p:sp>
        <p:nvSpPr>
          <p:cNvPr id="200" name="Google Shape;200;p29"/>
          <p:cNvSpPr/>
          <p:nvPr/>
        </p:nvSpPr>
        <p:spPr>
          <a:xfrm>
            <a:off x="4771279" y="754379"/>
            <a:ext cx="4256394" cy="188595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9"/>
          <p:cNvSpPr/>
          <p:nvPr/>
        </p:nvSpPr>
        <p:spPr>
          <a:xfrm>
            <a:off x="4874257" y="836675"/>
            <a:ext cx="961122" cy="192025"/>
          </a:xfrm>
          <a:prstGeom prst="rect">
            <a:avLst/>
          </a:prstGeom>
          <a:solidFill>
            <a:srgbClr val="58A6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4929178" y="820922"/>
            <a:ext cx="864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Cart</a:t>
            </a:r>
            <a:endParaRPr sz="1000"/>
          </a:p>
        </p:txBody>
      </p:sp>
      <p:sp>
        <p:nvSpPr>
          <p:cNvPr id="203" name="Google Shape;203;p29"/>
          <p:cNvSpPr txBox="1"/>
          <p:nvPr/>
        </p:nvSpPr>
        <p:spPr>
          <a:xfrm>
            <a:off x="4908583" y="1076706"/>
            <a:ext cx="3981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Groups obligations for a single payment intent.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One Stripe charge per cart — not per citation.</a:t>
            </a:r>
            <a:endParaRPr b="0" i="0" sz="1000" u="none" cap="none" strike="noStrike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lang="en" sz="10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One Check per cart - 2 check records are not created against a check of $80 </a:t>
            </a:r>
            <a:endParaRPr sz="10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9"/>
          <p:cNvSpPr txBox="1"/>
          <p:nvPr/>
        </p:nvSpPr>
        <p:spPr>
          <a:xfrm>
            <a:off x="4908583" y="1592621"/>
            <a:ext cx="3981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draft → checkout → payment_submitted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→ payment_confirmed → payment_settled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(↓ abandoned, ↓ disputed → won/lost)</a:t>
            </a:r>
            <a:endParaRPr sz="1000"/>
          </a:p>
        </p:txBody>
      </p:sp>
      <p:sp>
        <p:nvSpPr>
          <p:cNvPr id="205" name="Google Shape;205;p29"/>
          <p:cNvSpPr/>
          <p:nvPr/>
        </p:nvSpPr>
        <p:spPr>
          <a:xfrm>
            <a:off x="274606" y="2777490"/>
            <a:ext cx="4256394" cy="188595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9"/>
          <p:cNvSpPr/>
          <p:nvPr/>
        </p:nvSpPr>
        <p:spPr>
          <a:xfrm>
            <a:off x="377583" y="2859785"/>
            <a:ext cx="961122" cy="192025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9"/>
          <p:cNvSpPr txBox="1"/>
          <p:nvPr/>
        </p:nvSpPr>
        <p:spPr>
          <a:xfrm>
            <a:off x="424627" y="2836155"/>
            <a:ext cx="864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Ledger</a:t>
            </a:r>
            <a:endParaRPr sz="1000"/>
          </a:p>
        </p:txBody>
      </p:sp>
      <p:sp>
        <p:nvSpPr>
          <p:cNvPr id="208" name="Google Shape;208;p29"/>
          <p:cNvSpPr txBox="1"/>
          <p:nvPr/>
        </p:nvSpPr>
        <p:spPr>
          <a:xfrm>
            <a:off x="411908" y="3099816"/>
            <a:ext cx="3981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Append-only. Every payment event recorded here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with allocations to specific obligations.</a:t>
            </a:r>
            <a:endParaRPr sz="1000"/>
          </a:p>
        </p:txBody>
      </p:sp>
      <p:sp>
        <p:nvSpPr>
          <p:cNvPr id="209" name="Google Shape;209;p29"/>
          <p:cNvSpPr txBox="1"/>
          <p:nvPr/>
        </p:nvSpPr>
        <p:spPr>
          <a:xfrm>
            <a:off x="411908" y="3497580"/>
            <a:ext cx="39819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stage: payment_confirmed / settled / refunded / dispute_*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allocations: [{cart_item, obligation_id, amount}]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Each obligation's </a:t>
            </a:r>
            <a:r>
              <a:rPr lang="en"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allocated_total</a:t>
            </a: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 SUM(its allocations)</a:t>
            </a:r>
            <a:endParaRPr sz="1000"/>
          </a:p>
        </p:txBody>
      </p:sp>
      <p:sp>
        <p:nvSpPr>
          <p:cNvPr id="210" name="Google Shape;210;p29"/>
          <p:cNvSpPr/>
          <p:nvPr/>
        </p:nvSpPr>
        <p:spPr>
          <a:xfrm>
            <a:off x="4771279" y="2777490"/>
            <a:ext cx="4256394" cy="188595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9"/>
          <p:cNvSpPr/>
          <p:nvPr/>
        </p:nvSpPr>
        <p:spPr>
          <a:xfrm>
            <a:off x="4874257" y="2859785"/>
            <a:ext cx="961122" cy="192025"/>
          </a:xfrm>
          <a:prstGeom prst="rect">
            <a:avLst/>
          </a:prstGeom>
          <a:solidFill>
            <a:srgbClr val="D2A8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9"/>
          <p:cNvSpPr txBox="1"/>
          <p:nvPr/>
        </p:nvSpPr>
        <p:spPr>
          <a:xfrm>
            <a:off x="4921301" y="2836155"/>
            <a:ext cx="864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VendorEvent</a:t>
            </a:r>
            <a:endParaRPr sz="1000"/>
          </a:p>
        </p:txBody>
      </p:sp>
      <p:sp>
        <p:nvSpPr>
          <p:cNvPr id="213" name="Google Shape;213;p29"/>
          <p:cNvSpPr txBox="1"/>
          <p:nvPr/>
        </p:nvSpPr>
        <p:spPr>
          <a:xfrm>
            <a:off x="4908583" y="3099816"/>
            <a:ext cx="3981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Normalized inbound signal from Stripe/CheckAlt.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Drives all state transitions.</a:t>
            </a:r>
            <a:endParaRPr sz="1000"/>
          </a:p>
        </p:txBody>
      </p:sp>
      <p:sp>
        <p:nvSpPr>
          <p:cNvPr id="214" name="Google Shape;214;p29"/>
          <p:cNvSpPr txBox="1"/>
          <p:nvPr/>
        </p:nvSpPr>
        <p:spPr>
          <a:xfrm>
            <a:off x="4908583" y="3497580"/>
            <a:ext cx="39819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event_type: payment_confirmed / settled / refunded / dispute_*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transaction: normalized payment data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/>
          <p:nvPr/>
        </p:nvSpPr>
        <p:spPr>
          <a:xfrm>
            <a:off x="343257" y="240030"/>
            <a:ext cx="8464800" cy="27300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0"/>
          <p:cNvSpPr txBox="1"/>
          <p:nvPr/>
        </p:nvSpPr>
        <p:spPr>
          <a:xfrm>
            <a:off x="377583" y="288035"/>
            <a:ext cx="83961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lang="en" sz="17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Vendor</a:t>
            </a:r>
            <a:r>
              <a:rPr b="1" lang="en" sz="17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 Integration ( Stripe ) </a:t>
            </a:r>
            <a:endParaRPr sz="1100"/>
          </a:p>
        </p:txBody>
      </p:sp>
      <p:pic>
        <p:nvPicPr>
          <p:cNvPr id="221" name="Google Shape;221;p30" title="Screenshot 2026-04-13 at 2.02.4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575" y="639625"/>
            <a:ext cx="3469726" cy="428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0" title="Screenshot 2026-04-13 at 2.03.0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7575" y="861977"/>
            <a:ext cx="4089699" cy="323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0"/>
          <p:cNvSpPr txBox="1"/>
          <p:nvPr/>
        </p:nvSpPr>
        <p:spPr>
          <a:xfrm>
            <a:off x="4007575" y="52327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Stripe Raw Events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/>
          <p:nvPr/>
        </p:nvSpPr>
        <p:spPr>
          <a:xfrm>
            <a:off x="343257" y="240030"/>
            <a:ext cx="8464733" cy="27433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1"/>
          <p:cNvSpPr txBox="1"/>
          <p:nvPr/>
        </p:nvSpPr>
        <p:spPr>
          <a:xfrm>
            <a:off x="377583" y="288035"/>
            <a:ext cx="8396081" cy="289033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Online Payment Flow (Stripe)</a:t>
            </a:r>
            <a:endParaRPr sz="1100"/>
          </a:p>
        </p:txBody>
      </p:sp>
      <p:sp>
        <p:nvSpPr>
          <p:cNvPr id="230" name="Google Shape;230;p31"/>
          <p:cNvSpPr/>
          <p:nvPr/>
        </p:nvSpPr>
        <p:spPr>
          <a:xfrm>
            <a:off x="274605" y="754379"/>
            <a:ext cx="3775834" cy="233172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1"/>
          <p:cNvSpPr txBox="1"/>
          <p:nvPr/>
        </p:nvSpPr>
        <p:spPr>
          <a:xfrm>
            <a:off x="411909" y="788670"/>
            <a:ext cx="3501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Synchronous (User-Facing API)</a:t>
            </a:r>
            <a:endParaRPr sz="1000"/>
          </a:p>
        </p:txBody>
      </p:sp>
      <p:sp>
        <p:nvSpPr>
          <p:cNvPr id="232" name="Google Shape;232;p31"/>
          <p:cNvSpPr txBox="1"/>
          <p:nvPr/>
        </p:nvSpPr>
        <p:spPr>
          <a:xfrm>
            <a:off x="411909" y="1028699"/>
            <a:ext cx="35013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POST /checkout  →  Create cart (draft → checkout)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Create Cart -&gt; Add Obligations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t/>
            </a:r>
            <a:endParaRPr sz="1000">
              <a:solidFill>
                <a:srgbClr val="8B949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t/>
            </a:r>
            <a:endParaRPr sz="1000">
              <a:solidFill>
                <a:srgbClr val="8B949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00"/>
              <a:buFont typeface="Courier New"/>
              <a:buNone/>
            </a:pPr>
            <a:r>
              <a:rPr b="0" i="0" lang="en" sz="10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POST /submit  →  202 Accepted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ourier New"/>
              <a:buNone/>
            </a:pPr>
            <a:r>
              <a:rPr lang="en" sz="1000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Vendor -&gt; submit_payment</a:t>
            </a:r>
            <a:r>
              <a:rPr b="0" i="0" lang="en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0" i="0" sz="1000" u="none" cap="none" strike="noStrike">
              <a:solidFill>
                <a:srgbClr val="8B949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Cart → payment_submitted. Obligations locked.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700"/>
              <a:buFont typeface="Courier New"/>
              <a:buNone/>
            </a:pPr>
            <a:r>
              <a:t/>
            </a:r>
            <a:endParaRPr sz="1000"/>
          </a:p>
        </p:txBody>
      </p:sp>
      <p:sp>
        <p:nvSpPr>
          <p:cNvPr id="233" name="Google Shape;233;p31"/>
          <p:cNvSpPr/>
          <p:nvPr/>
        </p:nvSpPr>
        <p:spPr>
          <a:xfrm>
            <a:off x="4256393" y="754379"/>
            <a:ext cx="4551597" cy="233172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1"/>
          <p:cNvSpPr txBox="1"/>
          <p:nvPr/>
        </p:nvSpPr>
        <p:spPr>
          <a:xfrm>
            <a:off x="4393697" y="788670"/>
            <a:ext cx="4256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Asynchronous (Event Worker)</a:t>
            </a:r>
            <a:endParaRPr sz="1000"/>
          </a:p>
        </p:txBody>
      </p:sp>
      <p:sp>
        <p:nvSpPr>
          <p:cNvPr id="235" name="Google Shape;235;p31"/>
          <p:cNvSpPr txBox="1"/>
          <p:nvPr/>
        </p:nvSpPr>
        <p:spPr>
          <a:xfrm>
            <a:off x="4393697" y="1028699"/>
            <a:ext cx="4256400" cy="1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① Stripe webhook received — validated + deduplicated on stripe_event_id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② Transaction upsert — normalize Stripe charge into vendor-agnostic Transaction</a:t>
            </a:r>
            <a:endParaRPr sz="1000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③ VendorEvent created — type: payment_confirmed. Enqueued for processing.</a:t>
            </a:r>
            <a:endParaRPr b="0" i="0" sz="1000" u="none" cap="none" strike="noStrike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t/>
            </a:r>
            <a:endParaRPr sz="1000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④ EventProcessor runs :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    Pass 1: Resolve allocations to obligations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    Pass 2: Attach cart items → record in ledger</a:t>
            </a:r>
            <a:endParaRPr b="0" i="0" sz="1000" u="none" cap="none" strike="noStrike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t/>
            </a:r>
            <a:endParaRPr sz="10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⑤ Derived state updated — Cart → payment_confirmed.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    Obligation balances recalculated from ledger.</a:t>
            </a:r>
            <a:endParaRPr sz="10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lang="en" sz="10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    Citation payments  and payment status recalculated from its Obligations</a:t>
            </a:r>
            <a:endParaRPr sz="10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1"/>
          <p:cNvSpPr/>
          <p:nvPr/>
        </p:nvSpPr>
        <p:spPr>
          <a:xfrm>
            <a:off x="274605" y="3223259"/>
            <a:ext cx="8464733" cy="1714501"/>
          </a:xfrm>
          <a:prstGeom prst="rect">
            <a:avLst/>
          </a:prstGeom>
          <a:solidFill>
            <a:srgbClr val="0A140A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1"/>
          <p:cNvSpPr txBox="1"/>
          <p:nvPr/>
        </p:nvSpPr>
        <p:spPr>
          <a:xfrm>
            <a:off x="411908" y="3271266"/>
            <a:ext cx="8169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Key Differences </a:t>
            </a:r>
            <a:endParaRPr sz="1000"/>
          </a:p>
        </p:txBody>
      </p:sp>
      <p:sp>
        <p:nvSpPr>
          <p:cNvPr id="238" name="Google Shape;238;p31"/>
          <p:cNvSpPr txBox="1"/>
          <p:nvPr/>
        </p:nvSpPr>
        <p:spPr>
          <a:xfrm>
            <a:off x="411908" y="3497580"/>
            <a:ext cx="82383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700"/>
              <a:buFont typeface="Helvetica Neue"/>
              <a:buNone/>
            </a:pPr>
            <a:r>
              <a:rPr b="0" i="0" lang="en" sz="1000" u="none" cap="none" strike="noStrike">
                <a:solidFill>
                  <a:srgbClr val="3FB95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 </a:t>
            </a:r>
            <a:r>
              <a:rPr lang="en" sz="1000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Custom Checkout Pages - Stripe Default Checkout Page is no longer used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700"/>
              <a:buFont typeface="Helvetica Neue"/>
              <a:buNone/>
            </a:pPr>
            <a:r>
              <a:rPr b="0" i="0" lang="en" sz="1000" u="none" cap="none" strike="noStrike">
                <a:solidFill>
                  <a:srgbClr val="3FB95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 </a:t>
            </a:r>
            <a:r>
              <a:rPr b="0" i="0" lang="en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One charge per cart (not per citation) — Violator pays all citations in one Stripe charge. Fewer transactions = lower fees.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700"/>
              <a:buFont typeface="Helvetica Neue"/>
              <a:buNone/>
            </a:pPr>
            <a:r>
              <a:rPr b="0" i="0" lang="en" sz="1000" u="none" cap="none" strike="noStrike">
                <a:solidFill>
                  <a:srgbClr val="3FB95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 </a:t>
            </a:r>
            <a:r>
              <a:rPr b="0" i="0" lang="en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Ledger is updated, not Citations table — Obligation balances derived from ledger allocations. </a:t>
            </a:r>
            <a:r>
              <a:rPr lang="en" sz="1000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Citation balances from Obligations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700"/>
              <a:buFont typeface="Helvetica Neue"/>
              <a:buNone/>
            </a:pPr>
            <a:r>
              <a:rPr b="0" i="0" lang="en" sz="1000" u="none" cap="none" strike="noStrike">
                <a:solidFill>
                  <a:srgbClr val="3FB95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  </a:t>
            </a:r>
            <a:r>
              <a:rPr b="0" i="0" lang="en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Full idempotency — Processing the same webhook twice yields the same ledger state. Safe to replay.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/>
          <p:nvPr/>
        </p:nvSpPr>
        <p:spPr>
          <a:xfrm>
            <a:off x="343257" y="240030"/>
            <a:ext cx="8464733" cy="27433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2"/>
          <p:cNvSpPr txBox="1"/>
          <p:nvPr/>
        </p:nvSpPr>
        <p:spPr>
          <a:xfrm>
            <a:off x="377583" y="288035"/>
            <a:ext cx="8396081" cy="289033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Check &amp; In-Person Payment Flow (Proposed)</a:t>
            </a:r>
            <a:endParaRPr sz="1100"/>
          </a:p>
        </p:txBody>
      </p:sp>
      <p:sp>
        <p:nvSpPr>
          <p:cNvPr id="245" name="Google Shape;245;p32"/>
          <p:cNvSpPr txBox="1"/>
          <p:nvPr/>
        </p:nvSpPr>
        <p:spPr>
          <a:xfrm>
            <a:off x="377583" y="685799"/>
            <a:ext cx="839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Vendor events carry the actual check amount — no hardcoding. Future integration with CheckAlt or any mail processor uses the same pipeline.</a:t>
            </a:r>
            <a:endParaRPr sz="1000"/>
          </a:p>
        </p:txBody>
      </p:sp>
      <p:sp>
        <p:nvSpPr>
          <p:cNvPr id="246" name="Google Shape;246;p32"/>
          <p:cNvSpPr/>
          <p:nvPr/>
        </p:nvSpPr>
        <p:spPr>
          <a:xfrm>
            <a:off x="274600" y="1063001"/>
            <a:ext cx="1578900" cy="13473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2"/>
          <p:cNvSpPr txBox="1"/>
          <p:nvPr/>
        </p:nvSpPr>
        <p:spPr>
          <a:xfrm>
            <a:off x="377583" y="1110995"/>
            <a:ext cx="13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/>
          </a:p>
        </p:txBody>
      </p:sp>
      <p:sp>
        <p:nvSpPr>
          <p:cNvPr id="248" name="Google Shape;248;p32"/>
          <p:cNvSpPr txBox="1"/>
          <p:nvPr/>
        </p:nvSpPr>
        <p:spPr>
          <a:xfrm>
            <a:off x="514983" y="1111000"/>
            <a:ext cx="1373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Check vendor event ingested</a:t>
            </a:r>
            <a:endParaRPr sz="1000"/>
          </a:p>
        </p:txBody>
      </p:sp>
      <p:sp>
        <p:nvSpPr>
          <p:cNvPr id="249" name="Google Shape;249;p32"/>
          <p:cNvSpPr txBox="1"/>
          <p:nvPr/>
        </p:nvSpPr>
        <p:spPr>
          <a:xfrm>
            <a:off x="308924" y="1482138"/>
            <a:ext cx="15789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Contains citation reference, actual amount, check metadata.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Vendor module normalizes into a VendorEvent.</a:t>
            </a:r>
            <a:endParaRPr sz="1000"/>
          </a:p>
        </p:txBody>
      </p:sp>
      <p:sp>
        <p:nvSpPr>
          <p:cNvPr id="250" name="Google Shape;250;p32"/>
          <p:cNvSpPr/>
          <p:nvPr/>
        </p:nvSpPr>
        <p:spPr>
          <a:xfrm>
            <a:off x="1990900" y="1063001"/>
            <a:ext cx="1578900" cy="13473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2"/>
          <p:cNvSpPr txBox="1"/>
          <p:nvPr/>
        </p:nvSpPr>
        <p:spPr>
          <a:xfrm>
            <a:off x="2093870" y="1110995"/>
            <a:ext cx="13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/>
          </a:p>
        </p:txBody>
      </p:sp>
      <p:sp>
        <p:nvSpPr>
          <p:cNvPr id="252" name="Google Shape;252;p32"/>
          <p:cNvSpPr txBox="1"/>
          <p:nvPr/>
        </p:nvSpPr>
        <p:spPr>
          <a:xfrm>
            <a:off x="2231271" y="1088913"/>
            <a:ext cx="1373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VendorEvent created (no pre-existing cart)</a:t>
            </a:r>
            <a:endParaRPr sz="1000"/>
          </a:p>
        </p:txBody>
      </p:sp>
      <p:sp>
        <p:nvSpPr>
          <p:cNvPr id="253" name="Google Shape;253;p32"/>
          <p:cNvSpPr txBox="1"/>
          <p:nvPr/>
        </p:nvSpPr>
        <p:spPr>
          <a:xfrm>
            <a:off x="2022975" y="1488100"/>
            <a:ext cx="14439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Allocations are payable type: (owner_id, owner_type, label)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— resolved dynamically.</a:t>
            </a:r>
            <a:endParaRPr sz="1000"/>
          </a:p>
        </p:txBody>
      </p:sp>
      <p:sp>
        <p:nvSpPr>
          <p:cNvPr id="254" name="Google Shape;254;p32"/>
          <p:cNvSpPr/>
          <p:nvPr/>
        </p:nvSpPr>
        <p:spPr>
          <a:xfrm>
            <a:off x="3707175" y="1063001"/>
            <a:ext cx="1578900" cy="14058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2"/>
          <p:cNvSpPr txBox="1"/>
          <p:nvPr/>
        </p:nvSpPr>
        <p:spPr>
          <a:xfrm>
            <a:off x="3810158" y="1110995"/>
            <a:ext cx="13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/>
          </a:p>
        </p:txBody>
      </p:sp>
      <p:sp>
        <p:nvSpPr>
          <p:cNvPr id="256" name="Google Shape;256;p32"/>
          <p:cNvSpPr txBox="1"/>
          <p:nvPr/>
        </p:nvSpPr>
        <p:spPr>
          <a:xfrm>
            <a:off x="3947584" y="1111000"/>
            <a:ext cx="1373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EventProcessor</a:t>
            </a:r>
            <a:endParaRPr sz="1000"/>
          </a:p>
        </p:txBody>
      </p:sp>
      <p:sp>
        <p:nvSpPr>
          <p:cNvPr id="257" name="Google Shape;257;p32"/>
          <p:cNvSpPr txBox="1"/>
          <p:nvPr/>
        </p:nvSpPr>
        <p:spPr>
          <a:xfrm>
            <a:off x="3707174" y="1482150"/>
            <a:ext cx="14955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Resolves payable allocations → finds matching open obligation.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Creates system_created cart on-the-fly.</a:t>
            </a:r>
            <a:endParaRPr sz="1000"/>
          </a:p>
        </p:txBody>
      </p:sp>
      <p:sp>
        <p:nvSpPr>
          <p:cNvPr id="258" name="Google Shape;258;p32"/>
          <p:cNvSpPr/>
          <p:nvPr/>
        </p:nvSpPr>
        <p:spPr>
          <a:xfrm>
            <a:off x="5423475" y="1063001"/>
            <a:ext cx="1578900" cy="14058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2"/>
          <p:cNvSpPr txBox="1"/>
          <p:nvPr/>
        </p:nvSpPr>
        <p:spPr>
          <a:xfrm>
            <a:off x="5526446" y="1110995"/>
            <a:ext cx="13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/>
          </a:p>
        </p:txBody>
      </p:sp>
      <p:sp>
        <p:nvSpPr>
          <p:cNvPr id="260" name="Google Shape;260;p32"/>
          <p:cNvSpPr txBox="1"/>
          <p:nvPr/>
        </p:nvSpPr>
        <p:spPr>
          <a:xfrm>
            <a:off x="5663872" y="1111000"/>
            <a:ext cx="1373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Ledger records actual payment amount</a:t>
            </a:r>
            <a:endParaRPr sz="1000"/>
          </a:p>
        </p:txBody>
      </p:sp>
      <p:sp>
        <p:nvSpPr>
          <p:cNvPr id="261" name="Google Shape;261;p32"/>
          <p:cNvSpPr txBox="1"/>
          <p:nvPr/>
        </p:nvSpPr>
        <p:spPr>
          <a:xfrm>
            <a:off x="5484649" y="1504693"/>
            <a:ext cx="14955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Deposited and cleared timestamps tracked separately.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Obligation balance recalculated from ledger.</a:t>
            </a:r>
            <a:endParaRPr sz="1000"/>
          </a:p>
        </p:txBody>
      </p:sp>
      <p:sp>
        <p:nvSpPr>
          <p:cNvPr id="262" name="Google Shape;262;p32"/>
          <p:cNvSpPr/>
          <p:nvPr/>
        </p:nvSpPr>
        <p:spPr>
          <a:xfrm>
            <a:off x="7139750" y="1063001"/>
            <a:ext cx="1578900" cy="14058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2"/>
          <p:cNvSpPr txBox="1"/>
          <p:nvPr/>
        </p:nvSpPr>
        <p:spPr>
          <a:xfrm>
            <a:off x="7242734" y="1110995"/>
            <a:ext cx="13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/>
          </a:p>
        </p:txBody>
      </p:sp>
      <p:sp>
        <p:nvSpPr>
          <p:cNvPr id="264" name="Google Shape;264;p32"/>
          <p:cNvSpPr txBox="1"/>
          <p:nvPr/>
        </p:nvSpPr>
        <p:spPr>
          <a:xfrm>
            <a:off x="7380185" y="1111000"/>
            <a:ext cx="1373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Partial payment? Supported natively.</a:t>
            </a:r>
            <a:endParaRPr sz="1000"/>
          </a:p>
        </p:txBody>
      </p:sp>
      <p:sp>
        <p:nvSpPr>
          <p:cNvPr id="265" name="Google Shape;265;p32"/>
          <p:cNvSpPr txBox="1"/>
          <p:nvPr/>
        </p:nvSpPr>
        <p:spPr>
          <a:xfrm>
            <a:off x="7154995" y="1488100"/>
            <a:ext cx="16293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Multiple checks can partially pay one obligation.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Each adds a ledger allocation. Obligation closes when outstanding = 0.</a:t>
            </a:r>
            <a:endParaRPr sz="1000"/>
          </a:p>
        </p:txBody>
      </p:sp>
      <p:sp>
        <p:nvSpPr>
          <p:cNvPr id="266" name="Google Shape;266;p32"/>
          <p:cNvSpPr txBox="1"/>
          <p:nvPr/>
        </p:nvSpPr>
        <p:spPr>
          <a:xfrm>
            <a:off x="308931" y="2468880"/>
            <a:ext cx="839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IMP vs Gringotts: Check &amp; In-Person</a:t>
            </a:r>
            <a:endParaRPr sz="1000"/>
          </a:p>
        </p:txBody>
      </p:sp>
      <p:graphicFrame>
        <p:nvGraphicFramePr>
          <p:cNvPr id="267" name="Google Shape;267;p32"/>
          <p:cNvGraphicFramePr/>
          <p:nvPr/>
        </p:nvGraphicFramePr>
        <p:xfrm>
          <a:off x="274605" y="27089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{EB0731C9-13D8-40BC-A0A8-03347B6271DF}</a:tableStyleId>
              </a:tblPr>
              <a:tblGrid>
                <a:gridCol w="1862225"/>
                <a:gridCol w="3301225"/>
                <a:gridCol w="3301225"/>
              </a:tblGrid>
              <a:tr h="27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Aspect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Today (IMP / Victor)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Gringotts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</a:tr>
              <a:tr h="27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Check amount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Always $40 (hardcoded in IMP)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Actual amount from vendor event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7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Partial payments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Not supported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Supported natively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7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Returned checks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No financial rollback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Refund event reverses ledger allocation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7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Audit trail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CitationActivityLog (partial)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Full ledger + AuditLog with before/after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7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In-person record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None — invisible to reporting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VendorEvent + ledger entry; full audit trail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7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Duplicate safety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No deduplication key (IMP)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Deduped on vendor event ID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"/>
          <p:cNvSpPr/>
          <p:nvPr/>
        </p:nvSpPr>
        <p:spPr>
          <a:xfrm>
            <a:off x="343257" y="240030"/>
            <a:ext cx="8464733" cy="27433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3"/>
          <p:cNvSpPr txBox="1"/>
          <p:nvPr/>
        </p:nvSpPr>
        <p:spPr>
          <a:xfrm>
            <a:off x="377583" y="288035"/>
            <a:ext cx="8396081" cy="289033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Obligation Operations (Support Actions)</a:t>
            </a:r>
            <a:endParaRPr sz="1100"/>
          </a:p>
        </p:txBody>
      </p:sp>
      <p:sp>
        <p:nvSpPr>
          <p:cNvPr id="274" name="Google Shape;274;p33"/>
          <p:cNvSpPr txBox="1"/>
          <p:nvPr/>
        </p:nvSpPr>
        <p:spPr>
          <a:xfrm>
            <a:off x="377583" y="630935"/>
            <a:ext cx="839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Gringotts supports three first-class operations for adjusting obligations — all with full audit trails.</a:t>
            </a:r>
            <a:endParaRPr sz="1000"/>
          </a:p>
        </p:txBody>
      </p:sp>
      <p:sp>
        <p:nvSpPr>
          <p:cNvPr id="275" name="Google Shape;275;p33"/>
          <p:cNvSpPr/>
          <p:nvPr/>
        </p:nvSpPr>
        <p:spPr>
          <a:xfrm>
            <a:off x="274605" y="925829"/>
            <a:ext cx="2746061" cy="3154682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3"/>
          <p:cNvSpPr/>
          <p:nvPr/>
        </p:nvSpPr>
        <p:spPr>
          <a:xfrm>
            <a:off x="377583" y="994410"/>
            <a:ext cx="1098426" cy="192025"/>
          </a:xfrm>
          <a:prstGeom prst="rect">
            <a:avLst/>
          </a:prstGeom>
          <a:solidFill>
            <a:srgbClr val="58A6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3"/>
          <p:cNvSpPr txBox="1"/>
          <p:nvPr/>
        </p:nvSpPr>
        <p:spPr>
          <a:xfrm>
            <a:off x="425639" y="994410"/>
            <a:ext cx="100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Waive</a:t>
            </a:r>
            <a:endParaRPr sz="1000"/>
          </a:p>
        </p:txBody>
      </p:sp>
      <p:sp>
        <p:nvSpPr>
          <p:cNvPr id="278" name="Google Shape;278;p33"/>
          <p:cNvSpPr txBox="1"/>
          <p:nvPr/>
        </p:nvSpPr>
        <p:spPr>
          <a:xfrm>
            <a:off x="411909" y="1234440"/>
            <a:ext cx="2471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Forgive Unpaid Debt</a:t>
            </a:r>
            <a:endParaRPr sz="1000"/>
          </a:p>
        </p:txBody>
      </p:sp>
      <p:sp>
        <p:nvSpPr>
          <p:cNvPr id="279" name="Google Shape;279;p33"/>
          <p:cNvSpPr txBox="1"/>
          <p:nvPr/>
        </p:nvSpPr>
        <p:spPr>
          <a:xfrm>
            <a:off x="411909" y="1474470"/>
            <a:ext cx="2471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For unpaid obligations (no prior payments).</a:t>
            </a:r>
            <a:endParaRPr sz="1000"/>
          </a:p>
        </p:txBody>
      </p:sp>
      <p:sp>
        <p:nvSpPr>
          <p:cNvPr id="280" name="Google Shape;280;p33"/>
          <p:cNvSpPr txBox="1"/>
          <p:nvPr/>
        </p:nvSpPr>
        <p:spPr>
          <a:xfrm>
            <a:off x="411909" y="1714499"/>
            <a:ext cx="24714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Precondition: allocated_total == 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t/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status = WAIVED (terminal)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Use case: Court grants hardship exemption.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Obligation forgiven without any payment.</a:t>
            </a:r>
            <a:endParaRPr sz="1000"/>
          </a:p>
        </p:txBody>
      </p:sp>
      <p:sp>
        <p:nvSpPr>
          <p:cNvPr id="281" name="Google Shape;281;p33"/>
          <p:cNvSpPr/>
          <p:nvPr/>
        </p:nvSpPr>
        <p:spPr>
          <a:xfrm>
            <a:off x="3212890" y="925829"/>
            <a:ext cx="2746061" cy="3154682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3"/>
          <p:cNvSpPr/>
          <p:nvPr/>
        </p:nvSpPr>
        <p:spPr>
          <a:xfrm>
            <a:off x="3315868" y="994410"/>
            <a:ext cx="1098425" cy="192025"/>
          </a:xfrm>
          <a:prstGeom prst="rect">
            <a:avLst/>
          </a:prstGeom>
          <a:solidFill>
            <a:srgbClr val="58A6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3"/>
          <p:cNvSpPr txBox="1"/>
          <p:nvPr/>
        </p:nvSpPr>
        <p:spPr>
          <a:xfrm>
            <a:off x="3363924" y="994410"/>
            <a:ext cx="100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Partial Waive</a:t>
            </a:r>
            <a:endParaRPr sz="1000"/>
          </a:p>
        </p:txBody>
      </p:sp>
      <p:sp>
        <p:nvSpPr>
          <p:cNvPr id="284" name="Google Shape;284;p33"/>
          <p:cNvSpPr txBox="1"/>
          <p:nvPr/>
        </p:nvSpPr>
        <p:spPr>
          <a:xfrm>
            <a:off x="3350194" y="1234440"/>
            <a:ext cx="2471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Forgive Remaining Balance</a:t>
            </a:r>
            <a:endParaRPr sz="1000"/>
          </a:p>
        </p:txBody>
      </p:sp>
      <p:sp>
        <p:nvSpPr>
          <p:cNvPr id="285" name="Google Shape;285;p33"/>
          <p:cNvSpPr txBox="1"/>
          <p:nvPr/>
        </p:nvSpPr>
        <p:spPr>
          <a:xfrm>
            <a:off x="3350194" y="1474470"/>
            <a:ext cx="2471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For partially-paid obligations.</a:t>
            </a:r>
            <a:endParaRPr sz="1000"/>
          </a:p>
        </p:txBody>
      </p:sp>
      <p:sp>
        <p:nvSpPr>
          <p:cNvPr id="286" name="Google Shape;286;p33"/>
          <p:cNvSpPr txBox="1"/>
          <p:nvPr/>
        </p:nvSpPr>
        <p:spPr>
          <a:xfrm>
            <a:off x="3350194" y="1714499"/>
            <a:ext cx="24714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Precondition: allocated_total &gt; 0 AND outstanding &gt; 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Effect: waived_amount += outstanding = Total </a:t>
            </a:r>
            <a:r>
              <a:rPr lang="en"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obligation</a:t>
            </a: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Amount</a:t>
            </a:r>
            <a:endParaRPr b="0" i="0" sz="1000" u="none" cap="none" strike="noStrike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t/>
            </a:r>
            <a:endParaRPr sz="1000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status = CLOSED</a:t>
            </a:r>
            <a:endParaRPr b="0" i="0" sz="1000" u="none" cap="none" strike="noStrike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t/>
            </a:r>
            <a:endParaRPr sz="1000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Use case: Paid $</a:t>
            </a:r>
            <a:r>
              <a:rPr lang="en"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of $</a:t>
            </a:r>
            <a:r>
              <a:rPr lang="en"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lang="en"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Obvio</a:t>
            </a: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forgives remaining $</a:t>
            </a:r>
            <a:r>
              <a:rPr lang="en"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000"/>
          </a:p>
        </p:txBody>
      </p:sp>
      <p:sp>
        <p:nvSpPr>
          <p:cNvPr id="287" name="Google Shape;287;p33"/>
          <p:cNvSpPr/>
          <p:nvPr/>
        </p:nvSpPr>
        <p:spPr>
          <a:xfrm>
            <a:off x="6151175" y="925829"/>
            <a:ext cx="2746061" cy="3154682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3"/>
          <p:cNvSpPr/>
          <p:nvPr/>
        </p:nvSpPr>
        <p:spPr>
          <a:xfrm>
            <a:off x="6254152" y="994410"/>
            <a:ext cx="1098425" cy="192025"/>
          </a:xfrm>
          <a:prstGeom prst="rect">
            <a:avLst/>
          </a:prstGeom>
          <a:solidFill>
            <a:srgbClr val="D2A8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3"/>
          <p:cNvSpPr txBox="1"/>
          <p:nvPr/>
        </p:nvSpPr>
        <p:spPr>
          <a:xfrm>
            <a:off x="6302208" y="994410"/>
            <a:ext cx="1002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Supersede</a:t>
            </a:r>
            <a:endParaRPr sz="1000"/>
          </a:p>
        </p:txBody>
      </p:sp>
      <p:sp>
        <p:nvSpPr>
          <p:cNvPr id="290" name="Google Shape;290;p33"/>
          <p:cNvSpPr txBox="1"/>
          <p:nvPr/>
        </p:nvSpPr>
        <p:spPr>
          <a:xfrm>
            <a:off x="6288478" y="1234440"/>
            <a:ext cx="2471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Replace at New Amount</a:t>
            </a:r>
            <a:endParaRPr sz="1000"/>
          </a:p>
        </p:txBody>
      </p:sp>
      <p:sp>
        <p:nvSpPr>
          <p:cNvPr id="291" name="Google Shape;291;p33"/>
          <p:cNvSpPr txBox="1"/>
          <p:nvPr/>
        </p:nvSpPr>
        <p:spPr>
          <a:xfrm>
            <a:off x="6288478" y="1474470"/>
            <a:ext cx="2471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For open obligations with no prior payments.</a:t>
            </a:r>
            <a:endParaRPr sz="1000"/>
          </a:p>
        </p:txBody>
      </p:sp>
      <p:sp>
        <p:nvSpPr>
          <p:cNvPr id="292" name="Google Shape;292;p33"/>
          <p:cNvSpPr txBox="1"/>
          <p:nvPr/>
        </p:nvSpPr>
        <p:spPr>
          <a:xfrm>
            <a:off x="6288478" y="1714499"/>
            <a:ext cx="2471400" cy="22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Precondition: status == OPEN AND allocated_total == 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Effect: old obligation → SUPERSEDED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t/>
            </a:r>
            <a:endParaRPr sz="1000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new obligation: amount = new_amount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t/>
            </a:r>
            <a:endParaRPr sz="1000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status = OPEN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Use case: Court revises fine from $</a:t>
            </a:r>
            <a:r>
              <a:rPr lang="en"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to $</a:t>
            </a:r>
            <a:r>
              <a:rPr lang="en"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Both old and new in audit trail.</a:t>
            </a:r>
            <a:endParaRPr sz="1000"/>
          </a:p>
        </p:txBody>
      </p:sp>
      <p:sp>
        <p:nvSpPr>
          <p:cNvPr id="293" name="Google Shape;293;p33"/>
          <p:cNvSpPr/>
          <p:nvPr/>
        </p:nvSpPr>
        <p:spPr>
          <a:xfrm>
            <a:off x="274605" y="4183380"/>
            <a:ext cx="8464733" cy="617221"/>
          </a:xfrm>
          <a:prstGeom prst="rect">
            <a:avLst/>
          </a:prstGeom>
          <a:solidFill>
            <a:srgbClr val="21262D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3"/>
          <p:cNvSpPr txBox="1"/>
          <p:nvPr/>
        </p:nvSpPr>
        <p:spPr>
          <a:xfrm>
            <a:off x="411908" y="4251959"/>
            <a:ext cx="8169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All operations produce AuditLog entries with full before/after snapshots and correlation IDs. Support staff can trace every obligation change to a specific action and actor.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4"/>
          <p:cNvSpPr/>
          <p:nvPr/>
        </p:nvSpPr>
        <p:spPr>
          <a:xfrm>
            <a:off x="343257" y="240030"/>
            <a:ext cx="8464733" cy="27433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4"/>
          <p:cNvSpPr txBox="1"/>
          <p:nvPr/>
        </p:nvSpPr>
        <p:spPr>
          <a:xfrm>
            <a:off x="377583" y="288035"/>
            <a:ext cx="8396081" cy="289033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Gringotts — System Architecture</a:t>
            </a:r>
            <a:endParaRPr sz="1100"/>
          </a:p>
        </p:txBody>
      </p:sp>
      <p:sp>
        <p:nvSpPr>
          <p:cNvPr id="301" name="Google Shape;301;p34"/>
          <p:cNvSpPr/>
          <p:nvPr/>
        </p:nvSpPr>
        <p:spPr>
          <a:xfrm>
            <a:off x="274600" y="754375"/>
            <a:ext cx="8464800" cy="4263000"/>
          </a:xfrm>
          <a:prstGeom prst="rect">
            <a:avLst/>
          </a:prstGeom>
          <a:solidFill>
            <a:srgbClr val="21262D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4"/>
          <p:cNvSpPr txBox="1"/>
          <p:nvPr/>
        </p:nvSpPr>
        <p:spPr>
          <a:xfrm>
            <a:off x="411908" y="822960"/>
            <a:ext cx="8238300" cy="43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┌────────────────────────────────────────────────────────────────────┐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│                        USER / SUPPORT LAYER                        │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│  </a:t>
            </a:r>
            <a:r>
              <a:rPr b="1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Public API </a:t>
            </a: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</a:t>
            </a:r>
            <a:r>
              <a:rPr b="1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Internal Support API </a:t>
            </a: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│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│  POST /checkout  → 201            POST /refunds              → 202 │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│  POST /submit    → 202            POST /obligations/{id}/waive     │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│                                   GET  /reports/ledger             │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└──────────────────┬──────────────────────────┬──────────────────────┘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│ (sync, returns fast)      │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↓                           ↓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┌────────────────────┐       ┌────────────────────────┐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│  </a:t>
            </a:r>
            <a:r>
              <a:rPr b="1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CartProcessor</a:t>
            </a: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│       │  </a:t>
            </a:r>
            <a:r>
              <a:rPr b="1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RefundProcessor</a:t>
            </a: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│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│  create_cart       │       │  Dequeue refund request│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│  checkout_cart     │       │  Call VendorAdapter    │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│  submit → lock     │       │  Emit payment_refunded │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└──────────┬─────────┘       └────────────────────────┘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│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┌──────────┴─────────────────────────────────────────────────┐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│                   </a:t>
            </a:r>
            <a:r>
              <a:rPr b="1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VENDOR EVENT QUEUE </a:t>
            </a: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│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│  (Stripe webhooks · CheckAlt drops · Court API)            │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│  Deduplicated by vendor_event_id                           │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└──────────────────────────┬─────────────────────────────────┘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│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↓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┌────────────────────────────────────</a:t>
            </a:r>
            <a:r>
              <a:rPr lang="en" sz="7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──</a:t>
            </a: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┐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│   </a:t>
            </a:r>
            <a:r>
              <a:rPr b="1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EventProcessor</a:t>
            </a: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(Core Engine)       </a:t>
            </a: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r>
              <a:rPr lang="en" sz="7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┌────────────────────┐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│   Pass 1: Resolve allocations        │                       </a:t>
            </a:r>
            <a:r>
              <a:rPr lang="en" sz="7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│  </a:t>
            </a:r>
            <a:r>
              <a:rPr b="1" lang="en" sz="7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Triage Processor  </a:t>
            </a:r>
            <a:r>
              <a:rPr lang="en" sz="7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endParaRPr b="1"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│     → CART_ITEM:  find CartItem      </a:t>
            </a: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│                       </a:t>
            </a:r>
            <a:r>
              <a:rPr lang="en" sz="7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│ Detect Anomalies   │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│     → PAYABLE:    match (owner,label)│                       </a:t>
            </a:r>
            <a:r>
              <a:rPr lang="en" sz="7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│ -&gt; TriageRequest   │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│   Pass 2: Attach cart items          </a:t>
            </a: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r>
              <a:rPr lang="en" sz="7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─────Triage Queue────&gt; │                    │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│   → Ledger.record_event()            │                       </a:t>
            </a:r>
            <a:r>
              <a:rPr lang="en" sz="7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└────────────────────┘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└────────────┬───────────────────────</a:t>
            </a:r>
            <a:r>
              <a:rPr lang="en" sz="7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─</a:t>
            </a: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─┘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│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┌────────────────┼────────────────</a:t>
            </a: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┐</a:t>
            </a:r>
            <a:r>
              <a:rPr lang="en" sz="7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─────────────────┐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↓                ↓                ↓                </a:t>
            </a:r>
            <a:r>
              <a:rPr lang="en" sz="7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↓</a:t>
            </a: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┌───────────┐   ┌────────────┐   ┌────────────────┐    </a:t>
            </a:r>
            <a:r>
              <a:rPr lang="en" sz="7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┌────────────────┐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│  Ledger   │   │   Carts    │   │  Obligations   │    </a:t>
            </a:r>
            <a:r>
              <a:rPr lang="en" sz="7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│  Citations     │</a:t>
            </a:r>
            <a:endParaRPr sz="700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│ (Append   │   │ (Derived)  │   │  (Derived)     │    </a:t>
            </a:r>
            <a:r>
              <a:rPr lang="en" sz="7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│  (Derived)     │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│  Only)    │   └────────────┘   └────────────────┘    </a:t>
            </a:r>
            <a:r>
              <a:rPr lang="en" sz="7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└────────────────┘</a:t>
            </a:r>
            <a:endParaRPr sz="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6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└</a:t>
            </a:r>
            <a:r>
              <a:rPr lang="en" sz="6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</a:t>
            </a:r>
            <a:r>
              <a:rPr b="0" i="0" lang="en" sz="6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─────────┘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6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5"/>
          <p:cNvSpPr txBox="1"/>
          <p:nvPr/>
        </p:nvSpPr>
        <p:spPr>
          <a:xfrm>
            <a:off x="5869704" y="342900"/>
            <a:ext cx="3020668" cy="197224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028"/>
              </a:buClr>
              <a:buSzPts val="15000"/>
              <a:buFont typeface="Calibri"/>
              <a:buNone/>
            </a:pPr>
            <a:r>
              <a:rPr b="1" i="0" lang="en" sz="15000" u="none" cap="none" strike="noStrike">
                <a:solidFill>
                  <a:srgbClr val="1A202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/>
          </a:p>
        </p:txBody>
      </p:sp>
      <p:sp>
        <p:nvSpPr>
          <p:cNvPr id="308" name="Google Shape;308;p35"/>
          <p:cNvSpPr/>
          <p:nvPr/>
        </p:nvSpPr>
        <p:spPr>
          <a:xfrm>
            <a:off x="343257" y="1371600"/>
            <a:ext cx="54923" cy="1714500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5"/>
          <p:cNvSpPr txBox="1"/>
          <p:nvPr/>
        </p:nvSpPr>
        <p:spPr>
          <a:xfrm>
            <a:off x="549211" y="1440179"/>
            <a:ext cx="6109986" cy="598558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4200"/>
              <a:buFont typeface="Calibri"/>
              <a:buNone/>
            </a:pPr>
            <a:r>
              <a:rPr b="1" i="0" lang="en" sz="4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Support UI</a:t>
            </a:r>
            <a:endParaRPr sz="1100"/>
          </a:p>
        </p:txBody>
      </p:sp>
      <p:sp>
        <p:nvSpPr>
          <p:cNvPr id="310" name="Google Shape;310;p35"/>
          <p:cNvSpPr txBox="1"/>
          <p:nvPr/>
        </p:nvSpPr>
        <p:spPr>
          <a:xfrm>
            <a:off x="549211" y="2503169"/>
            <a:ext cx="5766729" cy="38205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How support staff will interact with the Gringotts system —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citation lookup, payment history, refunds, obligation adjustments, and audit logs.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6"/>
          <p:cNvSpPr/>
          <p:nvPr/>
        </p:nvSpPr>
        <p:spPr>
          <a:xfrm>
            <a:off x="343257" y="240030"/>
            <a:ext cx="8464733" cy="27433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6"/>
          <p:cNvSpPr txBox="1"/>
          <p:nvPr/>
        </p:nvSpPr>
        <p:spPr>
          <a:xfrm>
            <a:off x="377583" y="288035"/>
            <a:ext cx="8396081" cy="289033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Support UI — Citation Payment Overview</a:t>
            </a:r>
            <a:endParaRPr sz="1100"/>
          </a:p>
        </p:txBody>
      </p:sp>
      <p:sp>
        <p:nvSpPr>
          <p:cNvPr id="317" name="Google Shape;317;p36"/>
          <p:cNvSpPr txBox="1"/>
          <p:nvPr/>
        </p:nvSpPr>
        <p:spPr>
          <a:xfrm>
            <a:off x="377583" y="630935"/>
            <a:ext cx="8396081" cy="169282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Support staff search by citation number. Single pane shows full financial state.</a:t>
            </a:r>
            <a:endParaRPr sz="1100"/>
          </a:p>
        </p:txBody>
      </p:sp>
      <p:sp>
        <p:nvSpPr>
          <p:cNvPr id="318" name="Google Shape;318;p36"/>
          <p:cNvSpPr/>
          <p:nvPr/>
        </p:nvSpPr>
        <p:spPr>
          <a:xfrm>
            <a:off x="274605" y="822959"/>
            <a:ext cx="8464733" cy="4011931"/>
          </a:xfrm>
          <a:prstGeom prst="rect">
            <a:avLst/>
          </a:prstGeom>
          <a:solidFill>
            <a:srgbClr val="21262D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6"/>
          <p:cNvSpPr/>
          <p:nvPr/>
        </p:nvSpPr>
        <p:spPr>
          <a:xfrm>
            <a:off x="274605" y="822960"/>
            <a:ext cx="8464733" cy="24003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6"/>
          <p:cNvSpPr/>
          <p:nvPr/>
        </p:nvSpPr>
        <p:spPr>
          <a:xfrm>
            <a:off x="274606" y="1062989"/>
            <a:ext cx="1441800" cy="37719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6"/>
          <p:cNvSpPr/>
          <p:nvPr/>
        </p:nvSpPr>
        <p:spPr>
          <a:xfrm>
            <a:off x="308932" y="1131570"/>
            <a:ext cx="1338704" cy="308611"/>
          </a:xfrm>
          <a:prstGeom prst="rect">
            <a:avLst/>
          </a:prstGeom>
          <a:solidFill>
            <a:srgbClr val="1A2438"/>
          </a:solidFill>
          <a:ln cap="flat" cmpd="sng" w="9525">
            <a:solidFill>
              <a:srgbClr val="1A243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6"/>
          <p:cNvSpPr txBox="1"/>
          <p:nvPr/>
        </p:nvSpPr>
        <p:spPr>
          <a:xfrm>
            <a:off x="411908" y="1165860"/>
            <a:ext cx="1167077" cy="2114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700"/>
              <a:buFont typeface="Helvetica Neue"/>
              <a:buNone/>
            </a:pPr>
            <a:r>
              <a:rPr b="0" i="0" lang="en" sz="700" u="none" cap="none" strike="noStrike">
                <a:solidFill>
                  <a:srgbClr val="58A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⚡ </a:t>
            </a:r>
            <a:r>
              <a:rPr b="0" i="0" lang="en" sz="7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Payment Overview</a:t>
            </a:r>
            <a:endParaRPr sz="1100"/>
          </a:p>
        </p:txBody>
      </p:sp>
      <p:sp>
        <p:nvSpPr>
          <p:cNvPr id="323" name="Google Shape;323;p36"/>
          <p:cNvSpPr/>
          <p:nvPr/>
        </p:nvSpPr>
        <p:spPr>
          <a:xfrm>
            <a:off x="308932" y="1488186"/>
            <a:ext cx="1338704" cy="30861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6"/>
          <p:cNvSpPr txBox="1"/>
          <p:nvPr/>
        </p:nvSpPr>
        <p:spPr>
          <a:xfrm>
            <a:off x="411908" y="1522475"/>
            <a:ext cx="1167077" cy="2114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Helvetica Neue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📋 </a:t>
            </a: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Obligation History</a:t>
            </a:r>
            <a:endParaRPr sz="1100"/>
          </a:p>
        </p:txBody>
      </p:sp>
      <p:sp>
        <p:nvSpPr>
          <p:cNvPr id="325" name="Google Shape;325;p36"/>
          <p:cNvSpPr/>
          <p:nvPr/>
        </p:nvSpPr>
        <p:spPr>
          <a:xfrm>
            <a:off x="308932" y="1844801"/>
            <a:ext cx="1338704" cy="30861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6"/>
          <p:cNvSpPr txBox="1"/>
          <p:nvPr/>
        </p:nvSpPr>
        <p:spPr>
          <a:xfrm>
            <a:off x="411908" y="1879091"/>
            <a:ext cx="1167077" cy="2114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Helvetica Neue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📦 </a:t>
            </a: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Cart Detail</a:t>
            </a:r>
            <a:endParaRPr sz="1100"/>
          </a:p>
        </p:txBody>
      </p:sp>
      <p:sp>
        <p:nvSpPr>
          <p:cNvPr id="327" name="Google Shape;327;p36"/>
          <p:cNvSpPr/>
          <p:nvPr/>
        </p:nvSpPr>
        <p:spPr>
          <a:xfrm>
            <a:off x="308932" y="2201417"/>
            <a:ext cx="1338704" cy="30861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6"/>
          <p:cNvSpPr txBox="1"/>
          <p:nvPr/>
        </p:nvSpPr>
        <p:spPr>
          <a:xfrm>
            <a:off x="411908" y="2235708"/>
            <a:ext cx="1167077" cy="2114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Helvetica Neue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📒 </a:t>
            </a: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Ledger Entries</a:t>
            </a:r>
            <a:endParaRPr sz="1100"/>
          </a:p>
        </p:txBody>
      </p:sp>
      <p:sp>
        <p:nvSpPr>
          <p:cNvPr id="329" name="Google Shape;329;p36"/>
          <p:cNvSpPr/>
          <p:nvPr/>
        </p:nvSpPr>
        <p:spPr>
          <a:xfrm>
            <a:off x="308932" y="2558033"/>
            <a:ext cx="1338704" cy="30861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6"/>
          <p:cNvSpPr txBox="1"/>
          <p:nvPr/>
        </p:nvSpPr>
        <p:spPr>
          <a:xfrm>
            <a:off x="411908" y="2592324"/>
            <a:ext cx="1167077" cy="2114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Helvetica Neue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🔍 </a:t>
            </a: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Audit Log</a:t>
            </a:r>
            <a:endParaRPr sz="1100"/>
          </a:p>
        </p:txBody>
      </p:sp>
      <p:sp>
        <p:nvSpPr>
          <p:cNvPr id="331" name="Google Shape;331;p36"/>
          <p:cNvSpPr/>
          <p:nvPr/>
        </p:nvSpPr>
        <p:spPr>
          <a:xfrm>
            <a:off x="308932" y="2914649"/>
            <a:ext cx="1338704" cy="30861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6"/>
          <p:cNvSpPr txBox="1"/>
          <p:nvPr/>
        </p:nvSpPr>
        <p:spPr>
          <a:xfrm>
            <a:off x="411908" y="2948940"/>
            <a:ext cx="1167077" cy="176704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↩ Refunds</a:t>
            </a:r>
            <a:endParaRPr sz="1100"/>
          </a:p>
        </p:txBody>
      </p:sp>
      <p:sp>
        <p:nvSpPr>
          <p:cNvPr id="333" name="Google Shape;333;p36"/>
          <p:cNvSpPr txBox="1"/>
          <p:nvPr/>
        </p:nvSpPr>
        <p:spPr>
          <a:xfrm>
            <a:off x="1853591" y="891539"/>
            <a:ext cx="3363925" cy="193652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Citation #000322452</a:t>
            </a:r>
            <a:endParaRPr sz="1100"/>
          </a:p>
        </p:txBody>
      </p:sp>
      <p:sp>
        <p:nvSpPr>
          <p:cNvPr id="334" name="Google Shape;334;p36"/>
          <p:cNvSpPr txBox="1"/>
          <p:nvPr/>
        </p:nvSpPr>
        <p:spPr>
          <a:xfrm>
            <a:off x="1853591" y="1131570"/>
            <a:ext cx="961122" cy="147013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Citation Type</a:t>
            </a:r>
            <a:endParaRPr sz="1100"/>
          </a:p>
        </p:txBody>
      </p:sp>
      <p:sp>
        <p:nvSpPr>
          <p:cNvPr id="335" name="Google Shape;335;p36"/>
          <p:cNvSpPr txBox="1"/>
          <p:nvPr/>
        </p:nvSpPr>
        <p:spPr>
          <a:xfrm>
            <a:off x="2952014" y="1131570"/>
            <a:ext cx="151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alibri"/>
              <a:buNone/>
            </a:pPr>
            <a:r>
              <a:rPr lang="en" sz="6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Stop Sign</a:t>
            </a:r>
            <a:endParaRPr sz="1100"/>
          </a:p>
        </p:txBody>
      </p:sp>
      <p:sp>
        <p:nvSpPr>
          <p:cNvPr id="336" name="Google Shape;336;p36"/>
          <p:cNvSpPr txBox="1"/>
          <p:nvPr/>
        </p:nvSpPr>
        <p:spPr>
          <a:xfrm>
            <a:off x="4599651" y="1131570"/>
            <a:ext cx="961122" cy="147013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Total Owed</a:t>
            </a:r>
            <a:endParaRPr sz="1100"/>
          </a:p>
        </p:txBody>
      </p:sp>
      <p:sp>
        <p:nvSpPr>
          <p:cNvPr id="337" name="Google Shape;337;p36"/>
          <p:cNvSpPr txBox="1"/>
          <p:nvPr/>
        </p:nvSpPr>
        <p:spPr>
          <a:xfrm>
            <a:off x="5698075" y="1131570"/>
            <a:ext cx="1510335" cy="147013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$40.00</a:t>
            </a:r>
            <a:endParaRPr sz="1100"/>
          </a:p>
        </p:txBody>
      </p:sp>
      <p:sp>
        <p:nvSpPr>
          <p:cNvPr id="338" name="Google Shape;338;p36"/>
          <p:cNvSpPr txBox="1"/>
          <p:nvPr/>
        </p:nvSpPr>
        <p:spPr>
          <a:xfrm>
            <a:off x="1853591" y="1440179"/>
            <a:ext cx="961122" cy="147014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Outstanding</a:t>
            </a:r>
            <a:endParaRPr sz="1100"/>
          </a:p>
        </p:txBody>
      </p:sp>
      <p:sp>
        <p:nvSpPr>
          <p:cNvPr id="339" name="Google Shape;339;p36"/>
          <p:cNvSpPr txBox="1"/>
          <p:nvPr/>
        </p:nvSpPr>
        <p:spPr>
          <a:xfrm>
            <a:off x="2952014" y="1440179"/>
            <a:ext cx="1510335" cy="147014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$20.00</a:t>
            </a:r>
            <a:endParaRPr sz="1100"/>
          </a:p>
        </p:txBody>
      </p:sp>
      <p:sp>
        <p:nvSpPr>
          <p:cNvPr id="340" name="Google Shape;340;p36"/>
          <p:cNvSpPr txBox="1"/>
          <p:nvPr/>
        </p:nvSpPr>
        <p:spPr>
          <a:xfrm>
            <a:off x="4599651" y="1440179"/>
            <a:ext cx="961122" cy="147014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sz="1100"/>
          </a:p>
        </p:txBody>
      </p:sp>
      <p:sp>
        <p:nvSpPr>
          <p:cNvPr id="341" name="Google Shape;341;p36"/>
          <p:cNvSpPr txBox="1"/>
          <p:nvPr/>
        </p:nvSpPr>
        <p:spPr>
          <a:xfrm>
            <a:off x="5698075" y="1440179"/>
            <a:ext cx="1510335" cy="147014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alibri"/>
              <a:buNone/>
            </a:pPr>
            <a:r>
              <a:rPr b="0" i="0" lang="en" sz="6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PARTIALLY PAID</a:t>
            </a:r>
            <a:endParaRPr sz="1100"/>
          </a:p>
        </p:txBody>
      </p:sp>
      <p:sp>
        <p:nvSpPr>
          <p:cNvPr id="342" name="Google Shape;342;p36"/>
          <p:cNvSpPr txBox="1"/>
          <p:nvPr/>
        </p:nvSpPr>
        <p:spPr>
          <a:xfrm>
            <a:off x="1853591" y="1783079"/>
            <a:ext cx="6659197" cy="171384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Obligations</a:t>
            </a:r>
            <a:endParaRPr sz="1100"/>
          </a:p>
        </p:txBody>
      </p:sp>
      <p:graphicFrame>
        <p:nvGraphicFramePr>
          <p:cNvPr id="343" name="Google Shape;343;p36"/>
          <p:cNvGraphicFramePr/>
          <p:nvPr/>
        </p:nvGraphicFramePr>
        <p:xfrm>
          <a:off x="1819265" y="20093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{EB0731C9-13D8-40BC-A0A8-03347B6271DF}</a:tableStyleId>
              </a:tblPr>
              <a:tblGrid>
                <a:gridCol w="1699125"/>
                <a:gridCol w="883525"/>
                <a:gridCol w="883525"/>
                <a:gridCol w="1087425"/>
                <a:gridCol w="1087425"/>
                <a:gridCol w="1155375"/>
              </a:tblGrid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700" u="none" cap="none" strike="noStrike">
                          <a:solidFill>
                            <a:srgbClr val="8B949E"/>
                          </a:solidFill>
                        </a:rPr>
                        <a:t>Label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700" u="none" cap="none" strike="noStrike">
                          <a:solidFill>
                            <a:srgbClr val="8B949E"/>
                          </a:solidFill>
                        </a:rPr>
                        <a:t>Amount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700" u="none" cap="none" strike="noStrike">
                          <a:solidFill>
                            <a:srgbClr val="8B949E"/>
                          </a:solidFill>
                        </a:rPr>
                        <a:t>Paid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700" u="none" cap="none" strike="noStrike">
                          <a:solidFill>
                            <a:srgbClr val="8B949E"/>
                          </a:solidFill>
                        </a:rPr>
                        <a:t>Outstanding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700" u="none" cap="none" strike="noStrike">
                          <a:solidFill>
                            <a:srgbClr val="8B949E"/>
                          </a:solidFill>
                        </a:rPr>
                        <a:t>Status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700" u="none" cap="none" strike="noStrike">
                          <a:solidFill>
                            <a:srgbClr val="8B949E"/>
                          </a:solidFill>
                        </a:rPr>
                        <a:t>Action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Citation Fee (OBL-3)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$40.00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$20.00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$20.00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OPEN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Waive ↗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7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Check (42/1)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cart:4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$20.00 paid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—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SETTLED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—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344" name="Google Shape;344;p36"/>
          <p:cNvSpPr txBox="1"/>
          <p:nvPr/>
        </p:nvSpPr>
        <p:spPr>
          <a:xfrm>
            <a:off x="1853591" y="2914649"/>
            <a:ext cx="6727848" cy="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Key feature: Per-obligation status. Actions available inline based on state. Outstanding amount always derived from ledger — never stale.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7"/>
          <p:cNvSpPr/>
          <p:nvPr/>
        </p:nvSpPr>
        <p:spPr>
          <a:xfrm>
            <a:off x="343257" y="240030"/>
            <a:ext cx="8464733" cy="27433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7"/>
          <p:cNvSpPr txBox="1"/>
          <p:nvPr/>
        </p:nvSpPr>
        <p:spPr>
          <a:xfrm>
            <a:off x="377583" y="288035"/>
            <a:ext cx="8396081" cy="289033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Support UI — Obligation &amp; Cart Sample Data</a:t>
            </a:r>
            <a:endParaRPr sz="1100"/>
          </a:p>
        </p:txBody>
      </p:sp>
      <p:sp>
        <p:nvSpPr>
          <p:cNvPr id="351" name="Google Shape;351;p37"/>
          <p:cNvSpPr txBox="1"/>
          <p:nvPr/>
        </p:nvSpPr>
        <p:spPr>
          <a:xfrm>
            <a:off x="308931" y="720089"/>
            <a:ext cx="5423470" cy="169282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Obligations — Citations 000331714 &amp; 000329181</a:t>
            </a:r>
            <a:endParaRPr sz="1100"/>
          </a:p>
        </p:txBody>
      </p:sp>
      <p:sp>
        <p:nvSpPr>
          <p:cNvPr id="352" name="Google Shape;352;p37"/>
          <p:cNvSpPr txBox="1"/>
          <p:nvPr/>
        </p:nvSpPr>
        <p:spPr>
          <a:xfrm>
            <a:off x="308931" y="925829"/>
            <a:ext cx="5423470" cy="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One obligation per fee type. Balances are always derived from ledger allocations.</a:t>
            </a:r>
            <a:endParaRPr sz="1100"/>
          </a:p>
        </p:txBody>
      </p:sp>
      <p:graphicFrame>
        <p:nvGraphicFramePr>
          <p:cNvPr id="353" name="Google Shape;353;p37"/>
          <p:cNvGraphicFramePr/>
          <p:nvPr/>
        </p:nvGraphicFramePr>
        <p:xfrm>
          <a:off x="274605" y="11315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{EB0731C9-13D8-40BC-A0A8-03347B6271DF}</a:tableStyleId>
              </a:tblPr>
              <a:tblGrid>
                <a:gridCol w="321275"/>
                <a:gridCol w="1178050"/>
                <a:gridCol w="749650"/>
                <a:gridCol w="749650"/>
                <a:gridCol w="856750"/>
                <a:gridCol w="1499325"/>
              </a:tblGrid>
              <a:tr h="22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700" u="none" cap="none" strike="noStrike">
                          <a:solidFill>
                            <a:srgbClr val="8B949E"/>
                          </a:solidFill>
                        </a:rPr>
                        <a:t>id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700" u="none" cap="none" strike="noStrike">
                          <a:solidFill>
                            <a:srgbClr val="8B949E"/>
                          </a:solidFill>
                        </a:rPr>
                        <a:t>label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700" u="none" cap="none" strike="noStrike">
                          <a:solidFill>
                            <a:srgbClr val="8B949E"/>
                          </a:solidFill>
                        </a:rPr>
                        <a:t>amount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700" u="none" cap="none" strike="noStrike">
                          <a:solidFill>
                            <a:srgbClr val="8B949E"/>
                          </a:solidFill>
                        </a:rPr>
                        <a:t>allocated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700" u="none" cap="none" strike="noStrike">
                          <a:solidFill>
                            <a:srgbClr val="8B949E"/>
                          </a:solidFill>
                        </a:rPr>
                        <a:t>outstanding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700" u="none" cap="none" strike="noStrike">
                          <a:solidFill>
                            <a:srgbClr val="8B949E"/>
                          </a:solidFill>
                        </a:rPr>
                        <a:t>status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</a:tr>
              <a:tr h="22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1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citation_fee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$40.00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$40.00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$0.00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CLOSED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2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2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citation_fee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$40.00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$80.00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$0.00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CLOSED (+$40 overpaid)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2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9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convenience_fee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$4.00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$4.00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$0.00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CLOSED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354" name="Google Shape;354;p37"/>
          <p:cNvSpPr/>
          <p:nvPr/>
        </p:nvSpPr>
        <p:spPr>
          <a:xfrm>
            <a:off x="274606" y="2125979"/>
            <a:ext cx="5354817" cy="788671"/>
          </a:xfrm>
          <a:prstGeom prst="rect">
            <a:avLst/>
          </a:prstGeom>
          <a:solidFill>
            <a:srgbClr val="21262D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7"/>
          <p:cNvSpPr txBox="1"/>
          <p:nvPr/>
        </p:nvSpPr>
        <p:spPr>
          <a:xfrm>
            <a:off x="411908" y="2160270"/>
            <a:ext cx="5080213" cy="154435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How outstanding_amount is computed:</a:t>
            </a:r>
            <a:endParaRPr sz="1100"/>
          </a:p>
        </p:txBody>
      </p:sp>
      <p:sp>
        <p:nvSpPr>
          <p:cNvPr id="356" name="Google Shape;356;p37"/>
          <p:cNvSpPr txBox="1"/>
          <p:nvPr/>
        </p:nvSpPr>
        <p:spPr>
          <a:xfrm>
            <a:off x="411908" y="2345436"/>
            <a:ext cx="5080213" cy="3543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OBL-1: allocated($40) − amount($40) = $0  → CLOSED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F0A500"/>
                </a:solidFill>
                <a:latin typeface="Courier New"/>
                <a:ea typeface="Courier New"/>
                <a:cs typeface="Courier New"/>
                <a:sym typeface="Courier New"/>
              </a:rPr>
              <a:t>OBL-2: allocated($80) − amount($40) = overpaid $40, outstanding=$0  → CLOSED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OBL-9: allocated($4)  − amount($4)  = $0  → CLOSED</a:t>
            </a:r>
            <a:endParaRPr sz="1100"/>
          </a:p>
        </p:txBody>
      </p:sp>
      <p:sp>
        <p:nvSpPr>
          <p:cNvPr id="357" name="Google Shape;357;p37"/>
          <p:cNvSpPr txBox="1"/>
          <p:nvPr/>
        </p:nvSpPr>
        <p:spPr>
          <a:xfrm>
            <a:off x="6075658" y="720089"/>
            <a:ext cx="3226622" cy="169282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Cart — 1</a:t>
            </a:r>
            <a:endParaRPr sz="1100"/>
          </a:p>
        </p:txBody>
      </p:sp>
      <p:sp>
        <p:nvSpPr>
          <p:cNvPr id="358" name="Google Shape;358;p37"/>
          <p:cNvSpPr txBox="1"/>
          <p:nvPr/>
        </p:nvSpPr>
        <p:spPr>
          <a:xfrm>
            <a:off x="6075658" y="925829"/>
            <a:ext cx="3020667" cy="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One cart per checkout session. Groups all obligations into a single vendor charge.</a:t>
            </a:r>
            <a:endParaRPr sz="1100"/>
          </a:p>
        </p:txBody>
      </p:sp>
      <p:sp>
        <p:nvSpPr>
          <p:cNvPr id="359" name="Google Shape;359;p37"/>
          <p:cNvSpPr/>
          <p:nvPr/>
        </p:nvSpPr>
        <p:spPr>
          <a:xfrm>
            <a:off x="6041332" y="1131570"/>
            <a:ext cx="2952016" cy="198882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7"/>
          <p:cNvSpPr txBox="1"/>
          <p:nvPr/>
        </p:nvSpPr>
        <p:spPr>
          <a:xfrm>
            <a:off x="6178635" y="1179575"/>
            <a:ext cx="892470" cy="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 sz="1100"/>
          </a:p>
        </p:txBody>
      </p:sp>
      <p:sp>
        <p:nvSpPr>
          <p:cNvPr id="361" name="Google Shape;361;p37"/>
          <p:cNvSpPr txBox="1"/>
          <p:nvPr/>
        </p:nvSpPr>
        <p:spPr>
          <a:xfrm>
            <a:off x="7174082" y="1179575"/>
            <a:ext cx="1716289" cy="163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100"/>
          </a:p>
        </p:txBody>
      </p:sp>
      <p:sp>
        <p:nvSpPr>
          <p:cNvPr id="362" name="Google Shape;362;p37"/>
          <p:cNvSpPr txBox="1"/>
          <p:nvPr/>
        </p:nvSpPr>
        <p:spPr>
          <a:xfrm>
            <a:off x="6178635" y="1405888"/>
            <a:ext cx="892470" cy="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sz="1100"/>
          </a:p>
        </p:txBody>
      </p:sp>
      <p:sp>
        <p:nvSpPr>
          <p:cNvPr id="363" name="Google Shape;363;p37"/>
          <p:cNvSpPr txBox="1"/>
          <p:nvPr/>
        </p:nvSpPr>
        <p:spPr>
          <a:xfrm>
            <a:off x="7174082" y="1405888"/>
            <a:ext cx="1716289" cy="163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payment_settled</a:t>
            </a:r>
            <a:endParaRPr sz="1100"/>
          </a:p>
        </p:txBody>
      </p:sp>
      <p:sp>
        <p:nvSpPr>
          <p:cNvPr id="364" name="Google Shape;364;p37"/>
          <p:cNvSpPr txBox="1"/>
          <p:nvPr/>
        </p:nvSpPr>
        <p:spPr>
          <a:xfrm>
            <a:off x="6178635" y="1632204"/>
            <a:ext cx="892470" cy="154435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payment_mode</a:t>
            </a:r>
            <a:endParaRPr sz="1100"/>
          </a:p>
        </p:txBody>
      </p:sp>
      <p:sp>
        <p:nvSpPr>
          <p:cNvPr id="365" name="Google Shape;365;p37"/>
          <p:cNvSpPr txBox="1"/>
          <p:nvPr/>
        </p:nvSpPr>
        <p:spPr>
          <a:xfrm>
            <a:off x="7174082" y="1632204"/>
            <a:ext cx="1716289" cy="163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online</a:t>
            </a:r>
            <a:endParaRPr sz="1100"/>
          </a:p>
        </p:txBody>
      </p:sp>
      <p:sp>
        <p:nvSpPr>
          <p:cNvPr id="366" name="Google Shape;366;p37"/>
          <p:cNvSpPr txBox="1"/>
          <p:nvPr/>
        </p:nvSpPr>
        <p:spPr>
          <a:xfrm>
            <a:off x="6178635" y="1858517"/>
            <a:ext cx="892470" cy="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vendor</a:t>
            </a:r>
            <a:endParaRPr sz="1100"/>
          </a:p>
        </p:txBody>
      </p:sp>
      <p:sp>
        <p:nvSpPr>
          <p:cNvPr id="367" name="Google Shape;367;p37"/>
          <p:cNvSpPr txBox="1"/>
          <p:nvPr/>
        </p:nvSpPr>
        <p:spPr>
          <a:xfrm>
            <a:off x="7174082" y="1858517"/>
            <a:ext cx="1716289" cy="163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stripe</a:t>
            </a:r>
            <a:endParaRPr sz="1100"/>
          </a:p>
        </p:txBody>
      </p:sp>
      <p:sp>
        <p:nvSpPr>
          <p:cNvPr id="368" name="Google Shape;368;p37"/>
          <p:cNvSpPr txBox="1"/>
          <p:nvPr/>
        </p:nvSpPr>
        <p:spPr>
          <a:xfrm>
            <a:off x="6178635" y="2084832"/>
            <a:ext cx="892470" cy="154435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amount</a:t>
            </a:r>
            <a:endParaRPr sz="1100"/>
          </a:p>
        </p:txBody>
      </p:sp>
      <p:sp>
        <p:nvSpPr>
          <p:cNvPr id="369" name="Google Shape;369;p37"/>
          <p:cNvSpPr txBox="1"/>
          <p:nvPr/>
        </p:nvSpPr>
        <p:spPr>
          <a:xfrm>
            <a:off x="7174082" y="2084832"/>
            <a:ext cx="1716289" cy="163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$84.00</a:t>
            </a:r>
            <a:endParaRPr sz="1100"/>
          </a:p>
        </p:txBody>
      </p:sp>
      <p:sp>
        <p:nvSpPr>
          <p:cNvPr id="370" name="Google Shape;370;p37"/>
          <p:cNvSpPr txBox="1"/>
          <p:nvPr/>
        </p:nvSpPr>
        <p:spPr>
          <a:xfrm>
            <a:off x="6178635" y="2311145"/>
            <a:ext cx="892470" cy="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refund_amount</a:t>
            </a:r>
            <a:endParaRPr sz="1100"/>
          </a:p>
        </p:txBody>
      </p:sp>
      <p:sp>
        <p:nvSpPr>
          <p:cNvPr id="371" name="Google Shape;371;p37"/>
          <p:cNvSpPr txBox="1"/>
          <p:nvPr/>
        </p:nvSpPr>
        <p:spPr>
          <a:xfrm>
            <a:off x="7174082" y="2311145"/>
            <a:ext cx="1716289" cy="163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$40.00</a:t>
            </a:r>
            <a:endParaRPr sz="1100"/>
          </a:p>
        </p:txBody>
      </p:sp>
      <p:sp>
        <p:nvSpPr>
          <p:cNvPr id="372" name="Google Shape;372;p37"/>
          <p:cNvSpPr txBox="1"/>
          <p:nvPr/>
        </p:nvSpPr>
        <p:spPr>
          <a:xfrm>
            <a:off x="6178635" y="2537459"/>
            <a:ext cx="892470" cy="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vendor_ref</a:t>
            </a:r>
            <a:endParaRPr sz="1100"/>
          </a:p>
        </p:txBody>
      </p:sp>
      <p:sp>
        <p:nvSpPr>
          <p:cNvPr id="373" name="Google Shape;373;p37"/>
          <p:cNvSpPr txBox="1"/>
          <p:nvPr/>
        </p:nvSpPr>
        <p:spPr>
          <a:xfrm>
            <a:off x="7174082" y="2537459"/>
            <a:ext cx="1716289" cy="163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txn_3RKstt…S1G9OXSH1</a:t>
            </a:r>
            <a:endParaRPr sz="1100"/>
          </a:p>
        </p:txBody>
      </p:sp>
      <p:sp>
        <p:nvSpPr>
          <p:cNvPr id="374" name="Google Shape;374;p37"/>
          <p:cNvSpPr txBox="1"/>
          <p:nvPr/>
        </p:nvSpPr>
        <p:spPr>
          <a:xfrm>
            <a:off x="6178635" y="2763774"/>
            <a:ext cx="892470" cy="154435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created_at</a:t>
            </a:r>
            <a:endParaRPr sz="1100"/>
          </a:p>
        </p:txBody>
      </p:sp>
      <p:sp>
        <p:nvSpPr>
          <p:cNvPr id="375" name="Google Shape;375;p37"/>
          <p:cNvSpPr txBox="1"/>
          <p:nvPr/>
        </p:nvSpPr>
        <p:spPr>
          <a:xfrm>
            <a:off x="7174082" y="2763774"/>
            <a:ext cx="1716289" cy="163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2026-03-24 11:56:15Z</a:t>
            </a:r>
            <a:endParaRPr sz="1100"/>
          </a:p>
        </p:txBody>
      </p:sp>
      <p:sp>
        <p:nvSpPr>
          <p:cNvPr id="376" name="Google Shape;376;p37"/>
          <p:cNvSpPr txBox="1"/>
          <p:nvPr/>
        </p:nvSpPr>
        <p:spPr>
          <a:xfrm>
            <a:off x="6075658" y="3223259"/>
            <a:ext cx="2883364" cy="171384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Cart Items:</a:t>
            </a:r>
            <a:endParaRPr sz="1100"/>
          </a:p>
        </p:txBody>
      </p:sp>
      <p:graphicFrame>
        <p:nvGraphicFramePr>
          <p:cNvPr id="377" name="Google Shape;377;p37"/>
          <p:cNvGraphicFramePr/>
          <p:nvPr/>
        </p:nvGraphicFramePr>
        <p:xfrm>
          <a:off x="6041332" y="3429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{EB0731C9-13D8-40BC-A0A8-03347B6271DF}</a:tableStyleId>
              </a:tblPr>
              <a:tblGrid>
                <a:gridCol w="354225"/>
                <a:gridCol w="413275"/>
                <a:gridCol w="1416950"/>
                <a:gridCol w="767500"/>
              </a:tblGrid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700" u="none" cap="none" strike="noStrike">
                          <a:solidFill>
                            <a:srgbClr val="8B949E"/>
                          </a:solidFill>
                        </a:rPr>
                        <a:t>item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700" u="none" cap="none" strike="noStrike">
                          <a:solidFill>
                            <a:srgbClr val="8B949E"/>
                          </a:solidFill>
                        </a:rPr>
                        <a:t>obligation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700" u="none" cap="none" strike="noStrike">
                          <a:solidFill>
                            <a:srgbClr val="8B949E"/>
                          </a:solidFill>
                        </a:rPr>
                        <a:t>label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700" u="none" cap="none" strike="noStrike">
                          <a:solidFill>
                            <a:srgbClr val="8B949E"/>
                          </a:solidFill>
                        </a:rPr>
                        <a:t>amount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CI-1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OBL-9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convenience_fee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$4.00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CI-2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OBL-1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citation_fee (000331714)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$40.00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CI-3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OBL-2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citation_fee (000329181)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$40.00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378" name="Google Shape;378;p37"/>
          <p:cNvSpPr txBox="1"/>
          <p:nvPr/>
        </p:nvSpPr>
        <p:spPr>
          <a:xfrm>
            <a:off x="308931" y="4457700"/>
            <a:ext cx="8396081" cy="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OBL-2 shows $80 allocated — paid by both Stripe and CheckAlt, resulting in $40 overpayment.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8"/>
          <p:cNvSpPr/>
          <p:nvPr/>
        </p:nvSpPr>
        <p:spPr>
          <a:xfrm>
            <a:off x="343257" y="240030"/>
            <a:ext cx="8464733" cy="27433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8"/>
          <p:cNvSpPr txBox="1"/>
          <p:nvPr/>
        </p:nvSpPr>
        <p:spPr>
          <a:xfrm>
            <a:off x="377583" y="288035"/>
            <a:ext cx="8396081" cy="289033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Support UI — Ledger: Data Transitions</a:t>
            </a:r>
            <a:endParaRPr sz="1100"/>
          </a:p>
        </p:txBody>
      </p:sp>
      <p:sp>
        <p:nvSpPr>
          <p:cNvPr id="385" name="Google Shape;385;p38"/>
          <p:cNvSpPr txBox="1"/>
          <p:nvPr/>
        </p:nvSpPr>
        <p:spPr>
          <a:xfrm>
            <a:off x="377583" y="599428"/>
            <a:ext cx="839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The ledger is append-only. Each vendor event adds rows — obligation balances recalculated from running total of allocations.</a:t>
            </a:r>
            <a:endParaRPr sz="1000"/>
          </a:p>
        </p:txBody>
      </p:sp>
      <p:sp>
        <p:nvSpPr>
          <p:cNvPr id="386" name="Google Shape;386;p38"/>
          <p:cNvSpPr txBox="1"/>
          <p:nvPr/>
        </p:nvSpPr>
        <p:spPr>
          <a:xfrm>
            <a:off x="308931" y="874568"/>
            <a:ext cx="2677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State 1: payment_confirmed  (11:56:29Z)</a:t>
            </a:r>
            <a:endParaRPr sz="1000"/>
          </a:p>
        </p:txBody>
      </p:sp>
      <p:sp>
        <p:nvSpPr>
          <p:cNvPr id="387" name="Google Shape;387;p38"/>
          <p:cNvSpPr txBox="1"/>
          <p:nvPr/>
        </p:nvSpPr>
        <p:spPr>
          <a:xfrm>
            <a:off x="308931" y="1080308"/>
            <a:ext cx="2677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Stripe webhook received. Funds not yet settled.</a:t>
            </a:r>
            <a:endParaRPr sz="1000"/>
          </a:p>
        </p:txBody>
      </p:sp>
      <p:sp>
        <p:nvSpPr>
          <p:cNvPr id="388" name="Google Shape;388;p38"/>
          <p:cNvSpPr/>
          <p:nvPr/>
        </p:nvSpPr>
        <p:spPr>
          <a:xfrm>
            <a:off x="274600" y="1472742"/>
            <a:ext cx="2746200" cy="7104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9" name="Google Shape;389;p38"/>
          <p:cNvGraphicFramePr/>
          <p:nvPr/>
        </p:nvGraphicFramePr>
        <p:xfrm>
          <a:off x="308932" y="15070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{EB0731C9-13D8-40BC-A0A8-03347B6271DF}</a:tableStyleId>
              </a:tblPr>
              <a:tblGrid>
                <a:gridCol w="535475"/>
                <a:gridCol w="589025"/>
                <a:gridCol w="1017400"/>
                <a:gridCol w="535475"/>
              </a:tblGrid>
              <a:tr h="30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ldg_id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stage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label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amount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</a:tr>
              <a:tr h="30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LDG-1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CONFIRMED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cart_payment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$84.00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390" name="Google Shape;390;p38"/>
          <p:cNvSpPr txBox="1"/>
          <p:nvPr/>
        </p:nvSpPr>
        <p:spPr>
          <a:xfrm>
            <a:off x="3247216" y="874568"/>
            <a:ext cx="2677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State 2: payment_settled  (11:56:33Z)</a:t>
            </a:r>
            <a:endParaRPr sz="1000"/>
          </a:p>
        </p:txBody>
      </p:sp>
      <p:sp>
        <p:nvSpPr>
          <p:cNvPr id="391" name="Google Shape;391;p38"/>
          <p:cNvSpPr txBox="1"/>
          <p:nvPr/>
        </p:nvSpPr>
        <p:spPr>
          <a:xfrm>
            <a:off x="3247216" y="1080308"/>
            <a:ext cx="267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Stripe charge clears. Stage updated in-place on existing rows.</a:t>
            </a:r>
            <a:endParaRPr sz="1000"/>
          </a:p>
        </p:txBody>
      </p:sp>
      <p:sp>
        <p:nvSpPr>
          <p:cNvPr id="392" name="Google Shape;392;p38"/>
          <p:cNvSpPr/>
          <p:nvPr/>
        </p:nvSpPr>
        <p:spPr>
          <a:xfrm>
            <a:off x="3212900" y="1701344"/>
            <a:ext cx="2746200" cy="9429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3" name="Google Shape;393;p38"/>
          <p:cNvGraphicFramePr/>
          <p:nvPr/>
        </p:nvGraphicFramePr>
        <p:xfrm>
          <a:off x="3247216" y="17356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{EB0731C9-13D8-40BC-A0A8-03347B6271DF}</a:tableStyleId>
              </a:tblPr>
              <a:tblGrid>
                <a:gridCol w="535475"/>
                <a:gridCol w="589025"/>
                <a:gridCol w="1017400"/>
                <a:gridCol w="535475"/>
              </a:tblGrid>
              <a:tr h="30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ldg_id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stage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label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amount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</a:tr>
              <a:tr h="30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LDG-1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SETTLED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cart_payment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$84.00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30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LDG-2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SETTLED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stripe_fee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-$1.55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394" name="Google Shape;394;p38"/>
          <p:cNvSpPr txBox="1"/>
          <p:nvPr/>
        </p:nvSpPr>
        <p:spPr>
          <a:xfrm>
            <a:off x="6185500" y="874568"/>
            <a:ext cx="2677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B72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FF7B72"/>
                </a:solidFill>
                <a:latin typeface="Calibri"/>
                <a:ea typeface="Calibri"/>
                <a:cs typeface="Calibri"/>
                <a:sym typeface="Calibri"/>
              </a:rPr>
              <a:t>State 3: payment_refunded  (11:57:21Z)</a:t>
            </a:r>
            <a:endParaRPr sz="1000"/>
          </a:p>
        </p:txBody>
      </p:sp>
      <p:sp>
        <p:nvSpPr>
          <p:cNvPr id="395" name="Google Shape;395;p38"/>
          <p:cNvSpPr txBox="1"/>
          <p:nvPr/>
        </p:nvSpPr>
        <p:spPr>
          <a:xfrm>
            <a:off x="6185500" y="1080308"/>
            <a:ext cx="267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New ledger item appended — nothing overwritten.</a:t>
            </a:r>
            <a:endParaRPr sz="1000"/>
          </a:p>
        </p:txBody>
      </p:sp>
      <p:sp>
        <p:nvSpPr>
          <p:cNvPr id="396" name="Google Shape;396;p38"/>
          <p:cNvSpPr/>
          <p:nvPr/>
        </p:nvSpPr>
        <p:spPr>
          <a:xfrm>
            <a:off x="6151175" y="1320348"/>
            <a:ext cx="2746200" cy="15810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7" name="Google Shape;397;p38"/>
          <p:cNvGraphicFramePr/>
          <p:nvPr/>
        </p:nvGraphicFramePr>
        <p:xfrm>
          <a:off x="6185500" y="13546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{EB0731C9-13D8-40BC-A0A8-03347B6271DF}</a:tableStyleId>
              </a:tblPr>
              <a:tblGrid>
                <a:gridCol w="535475"/>
                <a:gridCol w="589025"/>
                <a:gridCol w="1017400"/>
                <a:gridCol w="535475"/>
              </a:tblGrid>
              <a:tr h="36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ldg_id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stage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label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amount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</a:tr>
              <a:tr h="36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LDG-1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SETTLED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cart_payment (prior)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$84.00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36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LDG-2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SETTLED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stripe_fee (prior)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-$1.55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36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LDG-7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REFUNDED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refund_payment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-$40.00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398" name="Google Shape;398;p38"/>
          <p:cNvSpPr/>
          <p:nvPr/>
        </p:nvSpPr>
        <p:spPr>
          <a:xfrm>
            <a:off x="211580" y="4458690"/>
            <a:ext cx="8464800" cy="582900"/>
          </a:xfrm>
          <a:prstGeom prst="rect">
            <a:avLst/>
          </a:prstGeom>
          <a:solidFill>
            <a:srgbClr val="0A140A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8"/>
          <p:cNvSpPr txBox="1"/>
          <p:nvPr/>
        </p:nvSpPr>
        <p:spPr>
          <a:xfrm>
            <a:off x="348883" y="4506696"/>
            <a:ext cx="8238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Key insight: The ledger is never overwritten. Refunds are new rows. Obligation.outstanding_amount = SUM of all ledger allocations — always derivable, always correct.</a:t>
            </a:r>
            <a:endParaRPr sz="1000"/>
          </a:p>
        </p:txBody>
      </p:sp>
      <p:sp>
        <p:nvSpPr>
          <p:cNvPr id="400" name="Google Shape;400;p38"/>
          <p:cNvSpPr/>
          <p:nvPr/>
        </p:nvSpPr>
        <p:spPr>
          <a:xfrm>
            <a:off x="277200" y="2287723"/>
            <a:ext cx="2746200" cy="15279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1" name="Google Shape;401;p38"/>
          <p:cNvGraphicFramePr/>
          <p:nvPr/>
        </p:nvGraphicFramePr>
        <p:xfrm>
          <a:off x="311619" y="28676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{EB0731C9-13D8-40BC-A0A8-03347B6271DF}</a:tableStyleId>
              </a:tblPr>
              <a:tblGrid>
                <a:gridCol w="535475"/>
                <a:gridCol w="589025"/>
                <a:gridCol w="1017400"/>
                <a:gridCol w="535475"/>
              </a:tblGrid>
              <a:tr h="30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ldg_id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>
                          <a:solidFill>
                            <a:srgbClr val="8B949E"/>
                          </a:solidFill>
                        </a:rPr>
                        <a:t>Cart Item id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label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amount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</a:tr>
              <a:tr h="30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>
                          <a:solidFill>
                            <a:srgbClr val="E6EDF3"/>
                          </a:solidFill>
                        </a:rPr>
                        <a:t>LDG-1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6EDF3"/>
                        </a:solidFill>
                      </a:endParaRPr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>
                          <a:solidFill>
                            <a:srgbClr val="E6EDF3"/>
                          </a:solidFill>
                        </a:rPr>
                        <a:t>CI-1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citation_fee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$40.00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30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>
                          <a:solidFill>
                            <a:srgbClr val="E6EDF3"/>
                          </a:solidFill>
                        </a:rPr>
                        <a:t>LDG-1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6EDF3"/>
                        </a:solidFill>
                      </a:endParaRPr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>
                          <a:solidFill>
                            <a:srgbClr val="E6EDF3"/>
                          </a:solidFill>
                        </a:rPr>
                        <a:t>CI-2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citation_fee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$40.00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30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>
                          <a:solidFill>
                            <a:srgbClr val="E6EDF3"/>
                          </a:solidFill>
                        </a:rPr>
                        <a:t>LDG-1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6EDF3"/>
                        </a:solidFill>
                      </a:endParaRPr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>
                          <a:solidFill>
                            <a:srgbClr val="E6EDF3"/>
                          </a:solidFill>
                        </a:rPr>
                        <a:t>CI-3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conv_fee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$4.00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402" name="Google Shape;402;p38"/>
          <p:cNvSpPr txBox="1"/>
          <p:nvPr/>
        </p:nvSpPr>
        <p:spPr>
          <a:xfrm>
            <a:off x="274602" y="1249550"/>
            <a:ext cx="111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00"/>
              <a:buFont typeface="Calibri"/>
              <a:buNone/>
            </a:pPr>
            <a:r>
              <a:rPr b="1" lang="en" sz="10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Ledger Records</a:t>
            </a:r>
            <a:endParaRPr b="1" sz="1000"/>
          </a:p>
        </p:txBody>
      </p:sp>
      <p:graphicFrame>
        <p:nvGraphicFramePr>
          <p:cNvPr id="403" name="Google Shape;403;p38"/>
          <p:cNvGraphicFramePr/>
          <p:nvPr/>
        </p:nvGraphicFramePr>
        <p:xfrm>
          <a:off x="311619" y="21764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{EB0731C9-13D8-40BC-A0A8-03347B6271DF}</a:tableStyleId>
              </a:tblPr>
              <a:tblGrid>
                <a:gridCol w="535475"/>
                <a:gridCol w="589025"/>
                <a:gridCol w="1017400"/>
                <a:gridCol w="535475"/>
              </a:tblGrid>
              <a:tr h="30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LDG-2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CONFIRMED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stripe_fee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-$1.55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404" name="Google Shape;404;p38"/>
          <p:cNvSpPr txBox="1"/>
          <p:nvPr/>
        </p:nvSpPr>
        <p:spPr>
          <a:xfrm>
            <a:off x="274602" y="2638700"/>
            <a:ext cx="111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00"/>
              <a:buFont typeface="Calibri"/>
              <a:buNone/>
            </a:pPr>
            <a:r>
              <a:rPr b="1" lang="en" sz="10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Ledger Allocations</a:t>
            </a:r>
            <a:endParaRPr b="1" sz="1000"/>
          </a:p>
        </p:txBody>
      </p:sp>
      <p:sp>
        <p:nvSpPr>
          <p:cNvPr id="405" name="Google Shape;405;p38"/>
          <p:cNvSpPr txBox="1"/>
          <p:nvPr/>
        </p:nvSpPr>
        <p:spPr>
          <a:xfrm>
            <a:off x="3247227" y="1467775"/>
            <a:ext cx="1111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00"/>
              <a:buFont typeface="Calibri"/>
              <a:buNone/>
            </a:pPr>
            <a:r>
              <a:rPr b="1" lang="en" sz="10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Ledger Records</a:t>
            </a:r>
            <a:endParaRPr b="1" sz="1000"/>
          </a:p>
        </p:txBody>
      </p:sp>
      <p:sp>
        <p:nvSpPr>
          <p:cNvPr id="406" name="Google Shape;406;p38"/>
          <p:cNvSpPr/>
          <p:nvPr/>
        </p:nvSpPr>
        <p:spPr>
          <a:xfrm>
            <a:off x="3231338" y="2834048"/>
            <a:ext cx="2746200" cy="15279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7" name="Google Shape;407;p38"/>
          <p:cNvGraphicFramePr/>
          <p:nvPr/>
        </p:nvGraphicFramePr>
        <p:xfrm>
          <a:off x="3231407" y="29013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{EB0731C9-13D8-40BC-A0A8-03347B6271DF}</a:tableStyleId>
              </a:tblPr>
              <a:tblGrid>
                <a:gridCol w="535475"/>
                <a:gridCol w="589025"/>
                <a:gridCol w="1017400"/>
                <a:gridCol w="535475"/>
              </a:tblGrid>
              <a:tr h="30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ldg_id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>
                          <a:solidFill>
                            <a:srgbClr val="8B949E"/>
                          </a:solidFill>
                        </a:rPr>
                        <a:t>Cart Item id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label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amount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</a:tr>
              <a:tr h="30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>
                          <a:solidFill>
                            <a:srgbClr val="E6EDF3"/>
                          </a:solidFill>
                        </a:rPr>
                        <a:t>LDG-1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6EDF3"/>
                        </a:solidFill>
                      </a:endParaRPr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>
                          <a:solidFill>
                            <a:srgbClr val="E6EDF3"/>
                          </a:solidFill>
                        </a:rPr>
                        <a:t>CI-1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citation_fee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$40.00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30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>
                          <a:solidFill>
                            <a:srgbClr val="E6EDF3"/>
                          </a:solidFill>
                        </a:rPr>
                        <a:t>LDG-1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6EDF3"/>
                        </a:solidFill>
                      </a:endParaRPr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>
                          <a:solidFill>
                            <a:srgbClr val="E6EDF3"/>
                          </a:solidFill>
                        </a:rPr>
                        <a:t>CI-2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citation_fee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$40.00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30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>
                          <a:solidFill>
                            <a:srgbClr val="E6EDF3"/>
                          </a:solidFill>
                        </a:rPr>
                        <a:t>LDG-1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E6EDF3"/>
                        </a:solidFill>
                      </a:endParaRPr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>
                          <a:solidFill>
                            <a:srgbClr val="E6EDF3"/>
                          </a:solidFill>
                        </a:rPr>
                        <a:t>CI-3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conv_fee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$4.00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408" name="Google Shape;408;p38"/>
          <p:cNvSpPr txBox="1"/>
          <p:nvPr/>
        </p:nvSpPr>
        <p:spPr>
          <a:xfrm>
            <a:off x="3231327" y="2666638"/>
            <a:ext cx="2677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00"/>
              <a:buFont typeface="Calibri"/>
              <a:buNone/>
            </a:pPr>
            <a:r>
              <a:rPr b="1" lang="en" sz="10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Ledger Allocations ( No Change)</a:t>
            </a:r>
            <a:endParaRPr b="1" sz="1000"/>
          </a:p>
        </p:txBody>
      </p:sp>
      <p:sp>
        <p:nvSpPr>
          <p:cNvPr id="409" name="Google Shape;409;p38"/>
          <p:cNvSpPr/>
          <p:nvPr/>
        </p:nvSpPr>
        <p:spPr>
          <a:xfrm>
            <a:off x="6185525" y="3120374"/>
            <a:ext cx="2746200" cy="8022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0" name="Google Shape;410;p38"/>
          <p:cNvGraphicFramePr/>
          <p:nvPr/>
        </p:nvGraphicFramePr>
        <p:xfrm>
          <a:off x="6185582" y="31876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{EB0731C9-13D8-40BC-A0A8-03347B6271DF}</a:tableStyleId>
              </a:tblPr>
              <a:tblGrid>
                <a:gridCol w="535475"/>
                <a:gridCol w="589025"/>
                <a:gridCol w="1017400"/>
                <a:gridCol w="535475"/>
              </a:tblGrid>
              <a:tr h="30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ldg_id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>
                          <a:solidFill>
                            <a:srgbClr val="8B949E"/>
                          </a:solidFill>
                        </a:rPr>
                        <a:t>Cart Item id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label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6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amount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</a:tr>
              <a:tr h="30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>
                          <a:solidFill>
                            <a:srgbClr val="E6EDF3"/>
                          </a:solidFill>
                        </a:rPr>
                        <a:t>LDG-7</a:t>
                      </a:r>
                      <a:endParaRPr sz="1000">
                        <a:solidFill>
                          <a:srgbClr val="E6EDF3"/>
                        </a:solidFill>
                      </a:endParaRPr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>
                          <a:solidFill>
                            <a:srgbClr val="E6EDF3"/>
                          </a:solidFill>
                        </a:rPr>
                        <a:t>CI-1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citation_fee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6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$40.00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411" name="Google Shape;411;p38"/>
          <p:cNvSpPr txBox="1"/>
          <p:nvPr/>
        </p:nvSpPr>
        <p:spPr>
          <a:xfrm>
            <a:off x="6185502" y="2952963"/>
            <a:ext cx="26775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600"/>
              <a:buFont typeface="Calibri"/>
              <a:buNone/>
            </a:pPr>
            <a:r>
              <a:rPr b="1" lang="en" sz="10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Ledger Allocations ( No Change)</a:t>
            </a:r>
            <a:endParaRPr b="1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9"/>
          <p:cNvSpPr/>
          <p:nvPr/>
        </p:nvSpPr>
        <p:spPr>
          <a:xfrm>
            <a:off x="343257" y="240030"/>
            <a:ext cx="8464733" cy="27433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9"/>
          <p:cNvSpPr txBox="1"/>
          <p:nvPr/>
        </p:nvSpPr>
        <p:spPr>
          <a:xfrm>
            <a:off x="377583" y="288035"/>
            <a:ext cx="8396081" cy="289033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Support UI — Access Log &amp; Audit Log</a:t>
            </a:r>
            <a:endParaRPr sz="1100"/>
          </a:p>
        </p:txBody>
      </p:sp>
      <p:sp>
        <p:nvSpPr>
          <p:cNvPr id="418" name="Google Shape;418;p39"/>
          <p:cNvSpPr txBox="1"/>
          <p:nvPr/>
        </p:nvSpPr>
        <p:spPr>
          <a:xfrm>
            <a:off x="308931" y="740664"/>
            <a:ext cx="3981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Access Log</a:t>
            </a:r>
            <a:endParaRPr sz="1000"/>
          </a:p>
        </p:txBody>
      </p:sp>
      <p:sp>
        <p:nvSpPr>
          <p:cNvPr id="419" name="Google Shape;419;p39"/>
          <p:cNvSpPr txBox="1"/>
          <p:nvPr/>
        </p:nvSpPr>
        <p:spPr>
          <a:xfrm>
            <a:off x="308931" y="960120"/>
            <a:ext cx="3981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Every HTTP request and worker execution. Operational observability — latency, errors, actors.</a:t>
            </a:r>
            <a:endParaRPr sz="1000"/>
          </a:p>
        </p:txBody>
      </p:sp>
      <p:sp>
        <p:nvSpPr>
          <p:cNvPr id="420" name="Google Shape;420;p39"/>
          <p:cNvSpPr/>
          <p:nvPr/>
        </p:nvSpPr>
        <p:spPr>
          <a:xfrm>
            <a:off x="274605" y="1179575"/>
            <a:ext cx="4050441" cy="2708911"/>
          </a:xfrm>
          <a:prstGeom prst="rect">
            <a:avLst/>
          </a:prstGeom>
          <a:solidFill>
            <a:srgbClr val="21262D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9"/>
          <p:cNvSpPr txBox="1"/>
          <p:nvPr/>
        </p:nvSpPr>
        <p:spPr>
          <a:xfrm>
            <a:off x="411908" y="1234440"/>
            <a:ext cx="37758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── request ─────────────────────────────────────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channel:        http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request_id:     req_submit_1_1774353383900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correlation_id: cart_payment:1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actor_type:     user / actor_id: demo_user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method:         POST /payments/submit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status_code:    202 / duration_ms: 1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timestamp:      2026-03-24T11:56:23Z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── worker ──────────────────────────────────────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channel:        worker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request_id:     worker_event:1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correlation_id: cart_payment:1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causation_id:   vendor_event:1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method:         process_payment_event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status_code:    200 / duration_ms: 94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timestamp:      2026-03-24T11:56:29Z</a:t>
            </a:r>
            <a:endParaRPr sz="1000"/>
          </a:p>
        </p:txBody>
      </p:sp>
      <p:sp>
        <p:nvSpPr>
          <p:cNvPr id="422" name="Google Shape;422;p39"/>
          <p:cNvSpPr txBox="1"/>
          <p:nvPr/>
        </p:nvSpPr>
        <p:spPr>
          <a:xfrm>
            <a:off x="4565326" y="740664"/>
            <a:ext cx="4325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Audit Log</a:t>
            </a:r>
            <a:endParaRPr sz="1000"/>
          </a:p>
        </p:txBody>
      </p:sp>
      <p:sp>
        <p:nvSpPr>
          <p:cNvPr id="423" name="Google Shape;423;p39"/>
          <p:cNvSpPr txBox="1"/>
          <p:nvPr/>
        </p:nvSpPr>
        <p:spPr>
          <a:xfrm>
            <a:off x="4565326" y="960120"/>
            <a:ext cx="4119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Every domain-level state change with before/after snapshots. Full traceability for any payment complaint.</a:t>
            </a:r>
            <a:endParaRPr sz="1000"/>
          </a:p>
        </p:txBody>
      </p:sp>
      <p:sp>
        <p:nvSpPr>
          <p:cNvPr id="424" name="Google Shape;424;p39"/>
          <p:cNvSpPr/>
          <p:nvPr/>
        </p:nvSpPr>
        <p:spPr>
          <a:xfrm>
            <a:off x="4531000" y="1179575"/>
            <a:ext cx="4393800" cy="3220800"/>
          </a:xfrm>
          <a:prstGeom prst="rect">
            <a:avLst/>
          </a:prstGeom>
          <a:solidFill>
            <a:srgbClr val="21262D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9"/>
          <p:cNvSpPr txBox="1"/>
          <p:nvPr/>
        </p:nvSpPr>
        <p:spPr>
          <a:xfrm>
            <a:off x="4668302" y="1234440"/>
            <a:ext cx="4119000" cy="3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── obligation_status_changed ─────────────────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entity_type:    obligation</a:t>
            </a:r>
            <a:endParaRPr b="0" i="0" sz="1000" u="none" cap="none" strike="noStrike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lang="en"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action:         obligation.payment_confirmed </a:t>
            </a:r>
            <a:endParaRPr sz="1000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entity_id:      1 (000331714)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old_status:     LOCKED / new_status: CLOSED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before:         {"outstanding": 4000, "allocated": 0}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after:          {"outstanding": 0,    "allocated": 4000}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correlation_id: cart_payment:1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causation_id:   vendor_event:1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timestamp:      2026-03-24T11:56:29Z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── cart_status_changed ───────────────────────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entity_type:    cart / entity_id: </a:t>
            </a: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000" u="none" cap="none" strike="noStrike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lang="en"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Action:         cart.payment_settled  </a:t>
            </a:r>
            <a:endParaRPr sz="1000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old_status:     payment_confirmed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new_status:     payment_settled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correlation_id: cart_payment:1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causation_id:   vendor_event:2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timestamp:      2026-03-24T11:56:33Z</a:t>
            </a:r>
            <a:endParaRPr sz="1000"/>
          </a:p>
        </p:txBody>
      </p:sp>
      <p:sp>
        <p:nvSpPr>
          <p:cNvPr id="426" name="Google Shape;426;p39"/>
          <p:cNvSpPr/>
          <p:nvPr/>
        </p:nvSpPr>
        <p:spPr>
          <a:xfrm>
            <a:off x="274605" y="4597864"/>
            <a:ext cx="8464800" cy="582900"/>
          </a:xfrm>
          <a:prstGeom prst="rect">
            <a:avLst/>
          </a:prstGeom>
          <a:solidFill>
            <a:srgbClr val="141422"/>
          </a:solidFill>
          <a:ln cap="flat" cmpd="sng" w="9525">
            <a:solidFill>
              <a:srgbClr val="D2A8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9"/>
          <p:cNvSpPr txBox="1"/>
          <p:nvPr/>
        </p:nvSpPr>
        <p:spPr>
          <a:xfrm>
            <a:off x="411908" y="4652727"/>
            <a:ext cx="8238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A8FF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D2A8FF"/>
                </a:solidFill>
                <a:latin typeface="Calibri"/>
                <a:ea typeface="Calibri"/>
                <a:cs typeface="Calibri"/>
                <a:sym typeface="Calibri"/>
              </a:rPr>
              <a:t>Tracing a complaint: Citation 000331714 → OBL-1 → Cart 1 → cart_payment:1 → all access logs + audit logs for the full flow (checkout, submit, confirmed, settled, refund) across HTTP and worker execution.</a:t>
            </a:r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0"/>
          <p:cNvSpPr/>
          <p:nvPr/>
        </p:nvSpPr>
        <p:spPr>
          <a:xfrm>
            <a:off x="343257" y="240030"/>
            <a:ext cx="8464733" cy="27433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0"/>
          <p:cNvSpPr txBox="1"/>
          <p:nvPr/>
        </p:nvSpPr>
        <p:spPr>
          <a:xfrm>
            <a:off x="377583" y="288035"/>
            <a:ext cx="8396081" cy="289033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Support UI — Initiating a Refund</a:t>
            </a:r>
            <a:endParaRPr sz="1100"/>
          </a:p>
        </p:txBody>
      </p:sp>
      <p:sp>
        <p:nvSpPr>
          <p:cNvPr id="434" name="Google Shape;434;p40"/>
          <p:cNvSpPr txBox="1"/>
          <p:nvPr/>
        </p:nvSpPr>
        <p:spPr>
          <a:xfrm>
            <a:off x="377583" y="630935"/>
            <a:ext cx="839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Support staff select a settled cart, choose items to refund, and submit. The system handles the rest asynchronously.</a:t>
            </a:r>
            <a:endParaRPr sz="1000"/>
          </a:p>
        </p:txBody>
      </p:sp>
      <p:sp>
        <p:nvSpPr>
          <p:cNvPr id="435" name="Google Shape;435;p40"/>
          <p:cNvSpPr/>
          <p:nvPr/>
        </p:nvSpPr>
        <p:spPr>
          <a:xfrm>
            <a:off x="274605" y="857250"/>
            <a:ext cx="3981789" cy="360045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40"/>
          <p:cNvSpPr txBox="1"/>
          <p:nvPr/>
        </p:nvSpPr>
        <p:spPr>
          <a:xfrm>
            <a:off x="411908" y="925829"/>
            <a:ext cx="3707182" cy="169282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Refund Form (Cart 1)</a:t>
            </a:r>
            <a:endParaRPr sz="1100"/>
          </a:p>
        </p:txBody>
      </p:sp>
      <p:sp>
        <p:nvSpPr>
          <p:cNvPr id="437" name="Google Shape;437;p40"/>
          <p:cNvSpPr txBox="1"/>
          <p:nvPr/>
        </p:nvSpPr>
        <p:spPr>
          <a:xfrm>
            <a:off x="411908" y="1152143"/>
            <a:ext cx="3707182" cy="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Cart Status: payment_settled · Stripe · 2026-03-24 · $84.00</a:t>
            </a:r>
            <a:endParaRPr sz="1100"/>
          </a:p>
        </p:txBody>
      </p:sp>
      <p:sp>
        <p:nvSpPr>
          <p:cNvPr id="438" name="Google Shape;438;p40"/>
          <p:cNvSpPr txBox="1"/>
          <p:nvPr/>
        </p:nvSpPr>
        <p:spPr>
          <a:xfrm>
            <a:off x="411908" y="1405888"/>
            <a:ext cx="3707182" cy="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Select Items to Refund:</a:t>
            </a:r>
            <a:endParaRPr sz="1100"/>
          </a:p>
        </p:txBody>
      </p:sp>
      <p:sp>
        <p:nvSpPr>
          <p:cNvPr id="439" name="Google Shape;439;p40"/>
          <p:cNvSpPr/>
          <p:nvPr/>
        </p:nvSpPr>
        <p:spPr>
          <a:xfrm>
            <a:off x="377583" y="1611629"/>
            <a:ext cx="3775834" cy="260605"/>
          </a:xfrm>
          <a:prstGeom prst="rect">
            <a:avLst/>
          </a:prstGeom>
          <a:solidFill>
            <a:srgbClr val="1A2438"/>
          </a:solidFill>
          <a:ln cap="flat" cmpd="sng" w="9525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0"/>
          <p:cNvSpPr txBox="1"/>
          <p:nvPr/>
        </p:nvSpPr>
        <p:spPr>
          <a:xfrm>
            <a:off x="514886" y="1645920"/>
            <a:ext cx="3501227" cy="154435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☑  Citation Fee · OBL-1 (000331714) · CI-2 · $40.00</a:t>
            </a:r>
            <a:endParaRPr sz="1100"/>
          </a:p>
        </p:txBody>
      </p:sp>
      <p:sp>
        <p:nvSpPr>
          <p:cNvPr id="441" name="Google Shape;441;p40"/>
          <p:cNvSpPr/>
          <p:nvPr/>
        </p:nvSpPr>
        <p:spPr>
          <a:xfrm>
            <a:off x="377583" y="1920240"/>
            <a:ext cx="3775834" cy="260605"/>
          </a:xfrm>
          <a:prstGeom prst="rect">
            <a:avLst/>
          </a:prstGeom>
          <a:solidFill>
            <a:srgbClr val="21262D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0"/>
          <p:cNvSpPr txBox="1"/>
          <p:nvPr/>
        </p:nvSpPr>
        <p:spPr>
          <a:xfrm>
            <a:off x="514886" y="1954529"/>
            <a:ext cx="3501227" cy="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☐  Convenience Fee · OBL-9 · CI-1 · $4.00</a:t>
            </a:r>
            <a:endParaRPr sz="1100"/>
          </a:p>
        </p:txBody>
      </p:sp>
      <p:sp>
        <p:nvSpPr>
          <p:cNvPr id="443" name="Google Shape;443;p40"/>
          <p:cNvSpPr txBox="1"/>
          <p:nvPr/>
        </p:nvSpPr>
        <p:spPr>
          <a:xfrm>
            <a:off x="411908" y="2297429"/>
            <a:ext cx="1098425" cy="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Refund amount:</a:t>
            </a:r>
            <a:endParaRPr sz="1100"/>
          </a:p>
        </p:txBody>
      </p:sp>
      <p:sp>
        <p:nvSpPr>
          <p:cNvPr id="444" name="Google Shape;444;p40"/>
          <p:cNvSpPr txBox="1"/>
          <p:nvPr/>
        </p:nvSpPr>
        <p:spPr>
          <a:xfrm>
            <a:off x="1613311" y="2297429"/>
            <a:ext cx="2540107" cy="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$40.00</a:t>
            </a:r>
            <a:endParaRPr sz="1100"/>
          </a:p>
        </p:txBody>
      </p:sp>
      <p:sp>
        <p:nvSpPr>
          <p:cNvPr id="445" name="Google Shape;445;p40"/>
          <p:cNvSpPr txBox="1"/>
          <p:nvPr/>
        </p:nvSpPr>
        <p:spPr>
          <a:xfrm>
            <a:off x="411908" y="2585466"/>
            <a:ext cx="1098425" cy="154435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Method:</a:t>
            </a:r>
            <a:endParaRPr sz="1100"/>
          </a:p>
        </p:txBody>
      </p:sp>
      <p:sp>
        <p:nvSpPr>
          <p:cNvPr id="446" name="Google Shape;446;p40"/>
          <p:cNvSpPr txBox="1"/>
          <p:nvPr/>
        </p:nvSpPr>
        <p:spPr>
          <a:xfrm>
            <a:off x="1613311" y="2585466"/>
            <a:ext cx="2540107" cy="154435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Stripe (original payment method)</a:t>
            </a:r>
            <a:endParaRPr sz="1100"/>
          </a:p>
        </p:txBody>
      </p:sp>
      <p:sp>
        <p:nvSpPr>
          <p:cNvPr id="447" name="Google Shape;447;p40"/>
          <p:cNvSpPr txBox="1"/>
          <p:nvPr/>
        </p:nvSpPr>
        <p:spPr>
          <a:xfrm>
            <a:off x="411908" y="2873501"/>
            <a:ext cx="1098425" cy="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Reason:</a:t>
            </a:r>
            <a:endParaRPr sz="1100"/>
          </a:p>
        </p:txBody>
      </p:sp>
      <p:sp>
        <p:nvSpPr>
          <p:cNvPr id="448" name="Google Shape;448;p40"/>
          <p:cNvSpPr txBox="1"/>
          <p:nvPr/>
        </p:nvSpPr>
        <p:spPr>
          <a:xfrm>
            <a:off x="1613311" y="2873501"/>
            <a:ext cx="2540107" cy="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Duplicate charge</a:t>
            </a:r>
            <a:endParaRPr sz="1100"/>
          </a:p>
        </p:txBody>
      </p:sp>
      <p:sp>
        <p:nvSpPr>
          <p:cNvPr id="449" name="Google Shape;449;p40"/>
          <p:cNvSpPr/>
          <p:nvPr/>
        </p:nvSpPr>
        <p:spPr>
          <a:xfrm>
            <a:off x="1716288" y="3257550"/>
            <a:ext cx="1716288" cy="288036"/>
          </a:xfrm>
          <a:prstGeom prst="rect">
            <a:avLst/>
          </a:prstGeom>
          <a:solidFill>
            <a:srgbClr val="58A6FF"/>
          </a:solidFill>
          <a:ln cap="flat" cmpd="sng" w="9525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0"/>
          <p:cNvSpPr txBox="1"/>
          <p:nvPr/>
        </p:nvSpPr>
        <p:spPr>
          <a:xfrm>
            <a:off x="1750613" y="3291840"/>
            <a:ext cx="1647638" cy="169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Submit Refund →</a:t>
            </a:r>
            <a:endParaRPr sz="1100"/>
          </a:p>
        </p:txBody>
      </p:sp>
      <p:sp>
        <p:nvSpPr>
          <p:cNvPr id="451" name="Google Shape;451;p40"/>
          <p:cNvSpPr txBox="1"/>
          <p:nvPr/>
        </p:nvSpPr>
        <p:spPr>
          <a:xfrm>
            <a:off x="4428022" y="857250"/>
            <a:ext cx="4530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What happens after Submit:</a:t>
            </a:r>
            <a:endParaRPr sz="1000"/>
          </a:p>
        </p:txBody>
      </p:sp>
      <p:sp>
        <p:nvSpPr>
          <p:cNvPr id="452" name="Google Shape;452;p40"/>
          <p:cNvSpPr/>
          <p:nvPr/>
        </p:nvSpPr>
        <p:spPr>
          <a:xfrm>
            <a:off x="4393696" y="1110995"/>
            <a:ext cx="4599652" cy="58293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40"/>
          <p:cNvSpPr txBox="1"/>
          <p:nvPr/>
        </p:nvSpPr>
        <p:spPr>
          <a:xfrm>
            <a:off x="4531000" y="1179575"/>
            <a:ext cx="13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 sz="1000"/>
          </a:p>
        </p:txBody>
      </p:sp>
      <p:sp>
        <p:nvSpPr>
          <p:cNvPr id="454" name="Google Shape;454;p40"/>
          <p:cNvSpPr txBox="1"/>
          <p:nvPr/>
        </p:nvSpPr>
        <p:spPr>
          <a:xfrm>
            <a:off x="4771279" y="1159002"/>
            <a:ext cx="4050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Refund record created → 202</a:t>
            </a:r>
            <a:endParaRPr sz="1000"/>
          </a:p>
        </p:txBody>
      </p:sp>
      <p:sp>
        <p:nvSpPr>
          <p:cNvPr id="455" name="Google Shape;455;p40"/>
          <p:cNvSpPr txBox="1"/>
          <p:nvPr/>
        </p:nvSpPr>
        <p:spPr>
          <a:xfrm>
            <a:off x="4771279" y="1371599"/>
            <a:ext cx="4050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UI shows 'Refund Requested'. AuditLog entry: refund_created.</a:t>
            </a:r>
            <a:endParaRPr sz="1000"/>
          </a:p>
        </p:txBody>
      </p:sp>
      <p:sp>
        <p:nvSpPr>
          <p:cNvPr id="456" name="Google Shape;456;p40"/>
          <p:cNvSpPr/>
          <p:nvPr/>
        </p:nvSpPr>
        <p:spPr>
          <a:xfrm>
            <a:off x="4393696" y="1762505"/>
            <a:ext cx="4599652" cy="58293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0"/>
          <p:cNvSpPr txBox="1"/>
          <p:nvPr/>
        </p:nvSpPr>
        <p:spPr>
          <a:xfrm>
            <a:off x="4531000" y="1831086"/>
            <a:ext cx="13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 sz="1000"/>
          </a:p>
        </p:txBody>
      </p:sp>
      <p:sp>
        <p:nvSpPr>
          <p:cNvPr id="458" name="Google Shape;458;p40"/>
          <p:cNvSpPr txBox="1"/>
          <p:nvPr/>
        </p:nvSpPr>
        <p:spPr>
          <a:xfrm>
            <a:off x="4771279" y="1810512"/>
            <a:ext cx="4050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Refund Processor dequeues</a:t>
            </a:r>
            <a:endParaRPr sz="1000"/>
          </a:p>
        </p:txBody>
      </p:sp>
      <p:sp>
        <p:nvSpPr>
          <p:cNvPr id="459" name="Google Shape;459;p40"/>
          <p:cNvSpPr txBox="1"/>
          <p:nvPr/>
        </p:nvSpPr>
        <p:spPr>
          <a:xfrm>
            <a:off x="4771279" y="2023109"/>
            <a:ext cx="4050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Calls VendorAdapter.refund(cart, items) → Stripe API.</a:t>
            </a:r>
            <a:endParaRPr sz="1000"/>
          </a:p>
        </p:txBody>
      </p:sp>
      <p:sp>
        <p:nvSpPr>
          <p:cNvPr id="460" name="Google Shape;460;p40"/>
          <p:cNvSpPr/>
          <p:nvPr/>
        </p:nvSpPr>
        <p:spPr>
          <a:xfrm>
            <a:off x="4393696" y="2414016"/>
            <a:ext cx="4599652" cy="58293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0"/>
          <p:cNvSpPr txBox="1"/>
          <p:nvPr/>
        </p:nvSpPr>
        <p:spPr>
          <a:xfrm>
            <a:off x="4531000" y="2482596"/>
            <a:ext cx="13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endParaRPr sz="1000"/>
          </a:p>
        </p:txBody>
      </p:sp>
      <p:sp>
        <p:nvSpPr>
          <p:cNvPr id="462" name="Google Shape;462;p40"/>
          <p:cNvSpPr txBox="1"/>
          <p:nvPr/>
        </p:nvSpPr>
        <p:spPr>
          <a:xfrm>
            <a:off x="4771279" y="2462022"/>
            <a:ext cx="4050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Stripe emits charge.refunded</a:t>
            </a:r>
            <a:endParaRPr sz="1000"/>
          </a:p>
        </p:txBody>
      </p:sp>
      <p:sp>
        <p:nvSpPr>
          <p:cNvPr id="463" name="Google Shape;463;p40"/>
          <p:cNvSpPr txBox="1"/>
          <p:nvPr/>
        </p:nvSpPr>
        <p:spPr>
          <a:xfrm>
            <a:off x="4771279" y="2674619"/>
            <a:ext cx="4050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EventProcessor receives as payment_refunded VendorEvent.</a:t>
            </a:r>
            <a:endParaRPr sz="1000"/>
          </a:p>
        </p:txBody>
      </p:sp>
      <p:sp>
        <p:nvSpPr>
          <p:cNvPr id="464" name="Google Shape;464;p40"/>
          <p:cNvSpPr/>
          <p:nvPr/>
        </p:nvSpPr>
        <p:spPr>
          <a:xfrm>
            <a:off x="4393696" y="3065525"/>
            <a:ext cx="4599652" cy="58293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0"/>
          <p:cNvSpPr txBox="1"/>
          <p:nvPr/>
        </p:nvSpPr>
        <p:spPr>
          <a:xfrm>
            <a:off x="4531000" y="3134105"/>
            <a:ext cx="13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④</a:t>
            </a:r>
            <a:endParaRPr sz="1000"/>
          </a:p>
        </p:txBody>
      </p:sp>
      <p:sp>
        <p:nvSpPr>
          <p:cNvPr id="466" name="Google Shape;466;p40"/>
          <p:cNvSpPr txBox="1"/>
          <p:nvPr/>
        </p:nvSpPr>
        <p:spPr>
          <a:xfrm>
            <a:off x="4771279" y="3113532"/>
            <a:ext cx="4050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Ledger appends LDG-7 (refunded)</a:t>
            </a:r>
            <a:endParaRPr sz="1000"/>
          </a:p>
        </p:txBody>
      </p:sp>
      <p:sp>
        <p:nvSpPr>
          <p:cNvPr id="467" name="Google Shape;467;p40"/>
          <p:cNvSpPr txBox="1"/>
          <p:nvPr/>
        </p:nvSpPr>
        <p:spPr>
          <a:xfrm>
            <a:off x="4771279" y="3326130"/>
            <a:ext cx="4050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Allocation: -$40 against OBL-1. outstanding_amount → $40 → status OPEN.</a:t>
            </a:r>
            <a:endParaRPr sz="1000"/>
          </a:p>
        </p:txBody>
      </p:sp>
      <p:sp>
        <p:nvSpPr>
          <p:cNvPr id="468" name="Google Shape;468;p40"/>
          <p:cNvSpPr/>
          <p:nvPr/>
        </p:nvSpPr>
        <p:spPr>
          <a:xfrm>
            <a:off x="4393696" y="3717035"/>
            <a:ext cx="4599652" cy="582931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0"/>
          <p:cNvSpPr txBox="1"/>
          <p:nvPr/>
        </p:nvSpPr>
        <p:spPr>
          <a:xfrm>
            <a:off x="4531000" y="3785616"/>
            <a:ext cx="137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⑤</a:t>
            </a:r>
            <a:endParaRPr sz="1000"/>
          </a:p>
        </p:txBody>
      </p:sp>
      <p:sp>
        <p:nvSpPr>
          <p:cNvPr id="470" name="Google Shape;470;p40"/>
          <p:cNvSpPr txBox="1"/>
          <p:nvPr/>
        </p:nvSpPr>
        <p:spPr>
          <a:xfrm>
            <a:off x="4771279" y="3765041"/>
            <a:ext cx="4050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Cart.refund_amount += $40</a:t>
            </a:r>
            <a:endParaRPr sz="1000"/>
          </a:p>
        </p:txBody>
      </p:sp>
      <p:sp>
        <p:nvSpPr>
          <p:cNvPr id="471" name="Google Shape;471;p40"/>
          <p:cNvSpPr txBox="1"/>
          <p:nvPr/>
        </p:nvSpPr>
        <p:spPr>
          <a:xfrm>
            <a:off x="4771279" y="3977640"/>
            <a:ext cx="4050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Cart stays payment_settled. Refund is a ledger event, not a status change.</a:t>
            </a:r>
            <a:endParaRPr sz="1000"/>
          </a:p>
        </p:txBody>
      </p:sp>
      <p:sp>
        <p:nvSpPr>
          <p:cNvPr id="472" name="Google Shape;472;p40"/>
          <p:cNvSpPr/>
          <p:nvPr/>
        </p:nvSpPr>
        <p:spPr>
          <a:xfrm>
            <a:off x="4393700" y="4471430"/>
            <a:ext cx="4599600" cy="459300"/>
          </a:xfrm>
          <a:prstGeom prst="rect">
            <a:avLst/>
          </a:prstGeom>
          <a:solidFill>
            <a:srgbClr val="21262D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0"/>
          <p:cNvSpPr txBox="1"/>
          <p:nvPr/>
        </p:nvSpPr>
        <p:spPr>
          <a:xfrm>
            <a:off x="4531000" y="4512564"/>
            <a:ext cx="4393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Cart items are refunded in full only. Pick specific items to achieve a partial refund of the overall cart.</a:t>
            </a:r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1"/>
          <p:cNvSpPr/>
          <p:nvPr/>
        </p:nvSpPr>
        <p:spPr>
          <a:xfrm>
            <a:off x="343257" y="240030"/>
            <a:ext cx="8464733" cy="27433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1"/>
          <p:cNvSpPr txBox="1"/>
          <p:nvPr/>
        </p:nvSpPr>
        <p:spPr>
          <a:xfrm>
            <a:off x="377583" y="288035"/>
            <a:ext cx="8396081" cy="289033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Support UI — Obligation Adjustment</a:t>
            </a:r>
            <a:endParaRPr sz="1100"/>
          </a:p>
        </p:txBody>
      </p:sp>
      <p:sp>
        <p:nvSpPr>
          <p:cNvPr id="480" name="Google Shape;480;p41"/>
          <p:cNvSpPr/>
          <p:nvPr/>
        </p:nvSpPr>
        <p:spPr>
          <a:xfrm>
            <a:off x="274605" y="822959"/>
            <a:ext cx="3981789" cy="3703322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1"/>
          <p:cNvSpPr txBox="1"/>
          <p:nvPr/>
        </p:nvSpPr>
        <p:spPr>
          <a:xfrm>
            <a:off x="411908" y="877824"/>
            <a:ext cx="3707182" cy="171383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Adjustment Form (OBL-5 · 000328981 · citation_fee · $40.00)</a:t>
            </a:r>
            <a:endParaRPr sz="1100"/>
          </a:p>
        </p:txBody>
      </p:sp>
      <p:sp>
        <p:nvSpPr>
          <p:cNvPr id="482" name="Google Shape;482;p41"/>
          <p:cNvSpPr txBox="1"/>
          <p:nvPr/>
        </p:nvSpPr>
        <p:spPr>
          <a:xfrm>
            <a:off x="411908" y="1110995"/>
            <a:ext cx="3707182" cy="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Current State:</a:t>
            </a:r>
            <a:endParaRPr sz="1100"/>
          </a:p>
        </p:txBody>
      </p:sp>
      <p:sp>
        <p:nvSpPr>
          <p:cNvPr id="483" name="Google Shape;483;p41"/>
          <p:cNvSpPr txBox="1"/>
          <p:nvPr/>
        </p:nvSpPr>
        <p:spPr>
          <a:xfrm>
            <a:off x="514886" y="1316736"/>
            <a:ext cx="1029774" cy="154435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id:</a:t>
            </a:r>
            <a:endParaRPr sz="1100"/>
          </a:p>
        </p:txBody>
      </p:sp>
      <p:sp>
        <p:nvSpPr>
          <p:cNvPr id="484" name="Google Shape;484;p41"/>
          <p:cNvSpPr txBox="1"/>
          <p:nvPr/>
        </p:nvSpPr>
        <p:spPr>
          <a:xfrm>
            <a:off x="1681962" y="1316736"/>
            <a:ext cx="2471455" cy="163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5 (000328981)</a:t>
            </a:r>
            <a:endParaRPr sz="1100"/>
          </a:p>
        </p:txBody>
      </p:sp>
      <p:sp>
        <p:nvSpPr>
          <p:cNvPr id="485" name="Google Shape;485;p41"/>
          <p:cNvSpPr txBox="1"/>
          <p:nvPr/>
        </p:nvSpPr>
        <p:spPr>
          <a:xfrm>
            <a:off x="514886" y="1536191"/>
            <a:ext cx="1029774" cy="154435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label:</a:t>
            </a:r>
            <a:endParaRPr sz="1100"/>
          </a:p>
        </p:txBody>
      </p:sp>
      <p:sp>
        <p:nvSpPr>
          <p:cNvPr id="486" name="Google Shape;486;p41"/>
          <p:cNvSpPr txBox="1"/>
          <p:nvPr/>
        </p:nvSpPr>
        <p:spPr>
          <a:xfrm>
            <a:off x="1681962" y="1536191"/>
            <a:ext cx="2471455" cy="163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citation_fee</a:t>
            </a:r>
            <a:endParaRPr sz="1100"/>
          </a:p>
        </p:txBody>
      </p:sp>
      <p:sp>
        <p:nvSpPr>
          <p:cNvPr id="487" name="Google Shape;487;p41"/>
          <p:cNvSpPr txBox="1"/>
          <p:nvPr/>
        </p:nvSpPr>
        <p:spPr>
          <a:xfrm>
            <a:off x="514886" y="1755648"/>
            <a:ext cx="1029774" cy="154435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amount:</a:t>
            </a:r>
            <a:endParaRPr sz="1100"/>
          </a:p>
        </p:txBody>
      </p:sp>
      <p:sp>
        <p:nvSpPr>
          <p:cNvPr id="488" name="Google Shape;488;p41"/>
          <p:cNvSpPr txBox="1"/>
          <p:nvPr/>
        </p:nvSpPr>
        <p:spPr>
          <a:xfrm>
            <a:off x="1681962" y="1755648"/>
            <a:ext cx="2471455" cy="163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$40.00</a:t>
            </a:r>
            <a:endParaRPr sz="1100"/>
          </a:p>
        </p:txBody>
      </p:sp>
      <p:sp>
        <p:nvSpPr>
          <p:cNvPr id="489" name="Google Shape;489;p41"/>
          <p:cNvSpPr txBox="1"/>
          <p:nvPr/>
        </p:nvSpPr>
        <p:spPr>
          <a:xfrm>
            <a:off x="514886" y="1975104"/>
            <a:ext cx="1029774" cy="154435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allocated_total:</a:t>
            </a:r>
            <a:endParaRPr sz="1100"/>
          </a:p>
        </p:txBody>
      </p:sp>
      <p:sp>
        <p:nvSpPr>
          <p:cNvPr id="490" name="Google Shape;490;p41"/>
          <p:cNvSpPr txBox="1"/>
          <p:nvPr/>
        </p:nvSpPr>
        <p:spPr>
          <a:xfrm>
            <a:off x="1681962" y="1975104"/>
            <a:ext cx="2471455" cy="163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$0.00</a:t>
            </a:r>
            <a:endParaRPr sz="1100"/>
          </a:p>
        </p:txBody>
      </p:sp>
      <p:sp>
        <p:nvSpPr>
          <p:cNvPr id="491" name="Google Shape;491;p41"/>
          <p:cNvSpPr txBox="1"/>
          <p:nvPr/>
        </p:nvSpPr>
        <p:spPr>
          <a:xfrm>
            <a:off x="514886" y="2194559"/>
            <a:ext cx="1029774" cy="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outstanding_amount:</a:t>
            </a:r>
            <a:endParaRPr sz="1100"/>
          </a:p>
        </p:txBody>
      </p:sp>
      <p:sp>
        <p:nvSpPr>
          <p:cNvPr id="492" name="Google Shape;492;p41"/>
          <p:cNvSpPr txBox="1"/>
          <p:nvPr/>
        </p:nvSpPr>
        <p:spPr>
          <a:xfrm>
            <a:off x="1681962" y="2194559"/>
            <a:ext cx="2471455" cy="163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$40.00</a:t>
            </a:r>
            <a:endParaRPr sz="1100"/>
          </a:p>
        </p:txBody>
      </p:sp>
      <p:sp>
        <p:nvSpPr>
          <p:cNvPr id="493" name="Google Shape;493;p41"/>
          <p:cNvSpPr txBox="1"/>
          <p:nvPr/>
        </p:nvSpPr>
        <p:spPr>
          <a:xfrm>
            <a:off x="514886" y="2414016"/>
            <a:ext cx="1029774" cy="154435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status:</a:t>
            </a:r>
            <a:endParaRPr sz="1100"/>
          </a:p>
        </p:txBody>
      </p:sp>
      <p:sp>
        <p:nvSpPr>
          <p:cNvPr id="494" name="Google Shape;494;p41"/>
          <p:cNvSpPr txBox="1"/>
          <p:nvPr/>
        </p:nvSpPr>
        <p:spPr>
          <a:xfrm>
            <a:off x="1681962" y="2414016"/>
            <a:ext cx="2471455" cy="1638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endParaRPr sz="1100"/>
          </a:p>
        </p:txBody>
      </p:sp>
      <p:sp>
        <p:nvSpPr>
          <p:cNvPr id="495" name="Google Shape;495;p41"/>
          <p:cNvSpPr txBox="1"/>
          <p:nvPr/>
        </p:nvSpPr>
        <p:spPr>
          <a:xfrm>
            <a:off x="411908" y="2743200"/>
            <a:ext cx="3707182" cy="154435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Select Action:</a:t>
            </a:r>
            <a:endParaRPr sz="1100"/>
          </a:p>
        </p:txBody>
      </p:sp>
      <p:sp>
        <p:nvSpPr>
          <p:cNvPr id="496" name="Google Shape;496;p41"/>
          <p:cNvSpPr txBox="1"/>
          <p:nvPr/>
        </p:nvSpPr>
        <p:spPr>
          <a:xfrm>
            <a:off x="514886" y="2948940"/>
            <a:ext cx="3501227" cy="154435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☑  Waive — Forgive full $40.00 (unpaid, no prior allocation)</a:t>
            </a:r>
            <a:endParaRPr sz="1100"/>
          </a:p>
        </p:txBody>
      </p:sp>
      <p:sp>
        <p:nvSpPr>
          <p:cNvPr id="497" name="Google Shape;497;p41"/>
          <p:cNvSpPr txBox="1"/>
          <p:nvPr/>
        </p:nvSpPr>
        <p:spPr>
          <a:xfrm>
            <a:off x="514886" y="3236975"/>
            <a:ext cx="3501227" cy="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☐  Partial Waive — Requires prior partial payment (disabled)</a:t>
            </a:r>
            <a:endParaRPr sz="1100"/>
          </a:p>
        </p:txBody>
      </p:sp>
      <p:sp>
        <p:nvSpPr>
          <p:cNvPr id="498" name="Google Shape;498;p41"/>
          <p:cNvSpPr txBox="1"/>
          <p:nvPr/>
        </p:nvSpPr>
        <p:spPr>
          <a:xfrm>
            <a:off x="514886" y="3525011"/>
            <a:ext cx="3501227" cy="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☐  Supersede — Replace with new amount</a:t>
            </a:r>
            <a:endParaRPr sz="1100"/>
          </a:p>
        </p:txBody>
      </p:sp>
      <p:sp>
        <p:nvSpPr>
          <p:cNvPr id="499" name="Google Shape;499;p41"/>
          <p:cNvSpPr txBox="1"/>
          <p:nvPr/>
        </p:nvSpPr>
        <p:spPr>
          <a:xfrm>
            <a:off x="514886" y="3874769"/>
            <a:ext cx="3363925" cy="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Reason: Court-ordered hardship waiver</a:t>
            </a:r>
            <a:endParaRPr sz="1100"/>
          </a:p>
        </p:txBody>
      </p:sp>
      <p:sp>
        <p:nvSpPr>
          <p:cNvPr id="500" name="Google Shape;500;p41"/>
          <p:cNvSpPr/>
          <p:nvPr/>
        </p:nvSpPr>
        <p:spPr>
          <a:xfrm>
            <a:off x="1510333" y="4183380"/>
            <a:ext cx="1716289" cy="240031"/>
          </a:xfrm>
          <a:prstGeom prst="rect">
            <a:avLst/>
          </a:prstGeom>
          <a:solidFill>
            <a:srgbClr val="0A140A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41"/>
          <p:cNvSpPr txBox="1"/>
          <p:nvPr/>
        </p:nvSpPr>
        <p:spPr>
          <a:xfrm>
            <a:off x="1544658" y="4210811"/>
            <a:ext cx="1647637" cy="171384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Apply Waiver →</a:t>
            </a:r>
            <a:endParaRPr sz="1100"/>
          </a:p>
        </p:txBody>
      </p:sp>
      <p:sp>
        <p:nvSpPr>
          <p:cNvPr id="502" name="Google Shape;502;p41"/>
          <p:cNvSpPr txBox="1"/>
          <p:nvPr/>
        </p:nvSpPr>
        <p:spPr>
          <a:xfrm>
            <a:off x="4496673" y="822960"/>
            <a:ext cx="4393698" cy="169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Available actions by state:</a:t>
            </a:r>
            <a:endParaRPr sz="1100"/>
          </a:p>
        </p:txBody>
      </p:sp>
      <p:graphicFrame>
        <p:nvGraphicFramePr>
          <p:cNvPr id="503" name="Google Shape;503;p41"/>
          <p:cNvGraphicFramePr/>
          <p:nvPr/>
        </p:nvGraphicFramePr>
        <p:xfrm>
          <a:off x="4462348" y="10629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{EB0731C9-13D8-40BC-A0A8-03347B6271DF}</a:tableStyleId>
              </a:tblPr>
              <a:tblGrid>
                <a:gridCol w="1249450"/>
                <a:gridCol w="1070950"/>
                <a:gridCol w="1070950"/>
                <a:gridCol w="107095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700" u="none" cap="none" strike="noStrike">
                          <a:solidFill>
                            <a:srgbClr val="8B949E"/>
                          </a:solidFill>
                        </a:rPr>
                        <a:t>State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700" u="none" cap="none" strike="noStrike">
                          <a:solidFill>
                            <a:srgbClr val="8B949E"/>
                          </a:solidFill>
                        </a:rPr>
                        <a:t>Waive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700" u="none" cap="none" strike="noStrike">
                          <a:solidFill>
                            <a:srgbClr val="8B949E"/>
                          </a:solidFill>
                        </a:rPr>
                        <a:t>Partial Waive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700" u="none" cap="none" strike="noStrike">
                          <a:solidFill>
                            <a:srgbClr val="8B949E"/>
                          </a:solidFill>
                        </a:rPr>
                        <a:t>Supersede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OPEN (unpaid)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B950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✓ </a:t>
                      </a:r>
                      <a:r>
                        <a:rPr lang="en" sz="700" u="none" cap="none" strike="noStrike">
                          <a:solidFill>
                            <a:srgbClr val="3FB950"/>
                          </a:solidFill>
                        </a:rPr>
                        <a:t>Available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B72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✕ </a:t>
                      </a:r>
                      <a:r>
                        <a:rPr lang="en" sz="700" u="none" cap="none" strike="noStrike">
                          <a:solidFill>
                            <a:srgbClr val="FF7B72"/>
                          </a:solidFill>
                        </a:rPr>
                        <a:t>Not available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B950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✓ </a:t>
                      </a:r>
                      <a:r>
                        <a:rPr lang="en" sz="700" u="none" cap="none" strike="noStrike">
                          <a:solidFill>
                            <a:srgbClr val="3FB950"/>
                          </a:solidFill>
                        </a:rPr>
                        <a:t>Available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OPEN (partial paid)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B72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✕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B950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✓ </a:t>
                      </a:r>
                      <a:r>
                        <a:rPr lang="en" sz="700" u="none" cap="none" strike="noStrike">
                          <a:solidFill>
                            <a:srgbClr val="3FB950"/>
                          </a:solidFill>
                        </a:rPr>
                        <a:t>Available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B72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✕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rgbClr val="E6EDF3"/>
                          </a:solidFill>
                        </a:rPr>
                        <a:t>WAIVED</a:t>
                      </a:r>
                      <a:endParaRPr sz="11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B72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✕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B72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✕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7B72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700" u="none" cap="none" strike="noStrike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✕</a:t>
                      </a:r>
                      <a:endParaRPr sz="1100">
                        <a:solidFill>
                          <a:schemeClr val="lt1"/>
                        </a:solidFill>
                      </a:endParaRPr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04" name="Google Shape;504;p41"/>
          <p:cNvSpPr/>
          <p:nvPr/>
        </p:nvSpPr>
        <p:spPr>
          <a:xfrm>
            <a:off x="4462348" y="2537459"/>
            <a:ext cx="4462200" cy="2057400"/>
          </a:xfrm>
          <a:prstGeom prst="rect">
            <a:avLst/>
          </a:prstGeom>
          <a:solidFill>
            <a:srgbClr val="21262D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41"/>
          <p:cNvSpPr txBox="1"/>
          <p:nvPr/>
        </p:nvSpPr>
        <p:spPr>
          <a:xfrm>
            <a:off x="4599651" y="2571750"/>
            <a:ext cx="41877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What each action writes:</a:t>
            </a:r>
            <a:endParaRPr sz="1000"/>
          </a:p>
        </p:txBody>
      </p:sp>
      <p:sp>
        <p:nvSpPr>
          <p:cNvPr id="506" name="Google Shape;506;p41"/>
          <p:cNvSpPr txBox="1"/>
          <p:nvPr/>
        </p:nvSpPr>
        <p:spPr>
          <a:xfrm>
            <a:off x="4599651" y="2777490"/>
            <a:ext cx="41877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# Waive (unpaid)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obligation.waived_amount  += $40.00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obligation.outstanding    =  $0.00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obligation.status         =  WAIVED (terminal)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# Supersede (creates new obligation)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old_obligation.status     =  SUPERSEDED (terminal)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new_obligation.amount     =  new_amount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new_obligation.status     =  OPEN</a:t>
            </a:r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2"/>
          <p:cNvSpPr/>
          <p:nvPr/>
        </p:nvSpPr>
        <p:spPr>
          <a:xfrm>
            <a:off x="343257" y="240030"/>
            <a:ext cx="8464733" cy="27433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42"/>
          <p:cNvSpPr txBox="1"/>
          <p:nvPr/>
        </p:nvSpPr>
        <p:spPr>
          <a:xfrm>
            <a:off x="377583" y="288035"/>
            <a:ext cx="8396081" cy="289033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Online Payment — Full Data Transition (Stripe)</a:t>
            </a:r>
            <a:endParaRPr sz="1100"/>
          </a:p>
        </p:txBody>
      </p:sp>
      <p:sp>
        <p:nvSpPr>
          <p:cNvPr id="513" name="Google Shape;513;p42"/>
          <p:cNvSpPr txBox="1"/>
          <p:nvPr/>
        </p:nvSpPr>
        <p:spPr>
          <a:xfrm>
            <a:off x="377583" y="583675"/>
            <a:ext cx="839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Each step shows the exact state of every entity. All transitions are driven by events — the API returns immediately at step 3.</a:t>
            </a:r>
            <a:endParaRPr sz="1000"/>
          </a:p>
        </p:txBody>
      </p:sp>
      <p:sp>
        <p:nvSpPr>
          <p:cNvPr id="514" name="Google Shape;514;p42"/>
          <p:cNvSpPr/>
          <p:nvPr/>
        </p:nvSpPr>
        <p:spPr>
          <a:xfrm>
            <a:off x="240280" y="848900"/>
            <a:ext cx="1682100" cy="41835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42"/>
          <p:cNvSpPr txBox="1"/>
          <p:nvPr/>
        </p:nvSpPr>
        <p:spPr>
          <a:xfrm>
            <a:off x="343257" y="903764"/>
            <a:ext cx="1476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① POST /checkout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11:56:23Z</a:t>
            </a:r>
            <a:endParaRPr sz="1000"/>
          </a:p>
        </p:txBody>
      </p:sp>
      <p:sp>
        <p:nvSpPr>
          <p:cNvPr id="516" name="Google Shape;516;p42"/>
          <p:cNvSpPr txBox="1"/>
          <p:nvPr/>
        </p:nvSpPr>
        <p:spPr>
          <a:xfrm>
            <a:off x="343257" y="1315245"/>
            <a:ext cx="1476000" cy="1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CART 1: draft · $84.00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CI-2→OBL-1 $40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CI-3→OBL-2 $40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CI-1→OBL-9 $4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OBL-1: OPEN · $40 owed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OBL-2: OPEN · $40 owed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LEDGER: empty</a:t>
            </a:r>
            <a:endParaRPr sz="1000"/>
          </a:p>
        </p:txBody>
      </p:sp>
      <p:sp>
        <p:nvSpPr>
          <p:cNvPr id="517" name="Google Shape;517;p42"/>
          <p:cNvSpPr/>
          <p:nvPr/>
        </p:nvSpPr>
        <p:spPr>
          <a:xfrm>
            <a:off x="2025219" y="848900"/>
            <a:ext cx="1682100" cy="41835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42"/>
          <p:cNvSpPr txBox="1"/>
          <p:nvPr/>
        </p:nvSpPr>
        <p:spPr>
          <a:xfrm>
            <a:off x="2128197" y="903764"/>
            <a:ext cx="1476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② Checkout confirmed</a:t>
            </a:r>
            <a:endParaRPr sz="1000"/>
          </a:p>
        </p:txBody>
      </p:sp>
      <p:sp>
        <p:nvSpPr>
          <p:cNvPr id="519" name="Google Shape;519;p42"/>
          <p:cNvSpPr txBox="1"/>
          <p:nvPr/>
        </p:nvSpPr>
        <p:spPr>
          <a:xfrm>
            <a:off x="2128197" y="1315245"/>
            <a:ext cx="14760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CART 1: checkout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vendor_intent_id: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pi_3RKstt…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OBL-1: OPEN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OBL-2: OPEN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LEDGER: empty</a:t>
            </a:r>
            <a:endParaRPr sz="1000"/>
          </a:p>
        </p:txBody>
      </p:sp>
      <p:sp>
        <p:nvSpPr>
          <p:cNvPr id="520" name="Google Shape;520;p42"/>
          <p:cNvSpPr/>
          <p:nvPr/>
        </p:nvSpPr>
        <p:spPr>
          <a:xfrm>
            <a:off x="3810159" y="848900"/>
            <a:ext cx="1682100" cy="41835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2"/>
          <p:cNvSpPr txBox="1"/>
          <p:nvPr/>
        </p:nvSpPr>
        <p:spPr>
          <a:xfrm>
            <a:off x="3913135" y="903764"/>
            <a:ext cx="1476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③ POST /submit →202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11:56:23Z</a:t>
            </a:r>
            <a:endParaRPr sz="1000"/>
          </a:p>
        </p:txBody>
      </p:sp>
      <p:sp>
        <p:nvSpPr>
          <p:cNvPr id="522" name="Google Shape;522;p42"/>
          <p:cNvSpPr txBox="1"/>
          <p:nvPr/>
        </p:nvSpPr>
        <p:spPr>
          <a:xfrm>
            <a:off x="3913135" y="1315245"/>
            <a:ext cx="1476000" cy="1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CART 1: payment_submitted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OBL-1: LOCKED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locked_by: cart:1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OBL-2: LOCKED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locked_by: cart:1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LEDGER: empty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t/>
            </a:r>
            <a:endParaRPr sz="1000"/>
          </a:p>
        </p:txBody>
      </p:sp>
      <p:sp>
        <p:nvSpPr>
          <p:cNvPr id="523" name="Google Shape;523;p42"/>
          <p:cNvSpPr/>
          <p:nvPr/>
        </p:nvSpPr>
        <p:spPr>
          <a:xfrm>
            <a:off x="5595097" y="848900"/>
            <a:ext cx="1682100" cy="41835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42"/>
          <p:cNvSpPr txBox="1"/>
          <p:nvPr/>
        </p:nvSpPr>
        <p:spPr>
          <a:xfrm>
            <a:off x="5698075" y="903764"/>
            <a:ext cx="1476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④ payment_confirmed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11:56:29Z</a:t>
            </a:r>
            <a:endParaRPr sz="1000"/>
          </a:p>
        </p:txBody>
      </p:sp>
      <p:sp>
        <p:nvSpPr>
          <p:cNvPr id="525" name="Google Shape;525;p42"/>
          <p:cNvSpPr txBox="1"/>
          <p:nvPr/>
        </p:nvSpPr>
        <p:spPr>
          <a:xfrm>
            <a:off x="5698075" y="1315245"/>
            <a:ext cx="1476000" cy="25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CART 1: payment_confirmed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OBL-1: </a:t>
            </a:r>
            <a:r>
              <a:rPr lang="en"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CLOSED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allocated: $40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outstanding: $0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OBL-2: </a:t>
            </a:r>
            <a:r>
              <a:rPr lang="en" sz="1000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CLOSED</a:t>
            </a: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· $40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LEDGER (event:1):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LDG-1 CONFIRMED $84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→OBL-1 $40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→OBL-2 $40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→OBL-9 $4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LDG-2 fee -$1.55</a:t>
            </a:r>
            <a:endParaRPr sz="1000"/>
          </a:p>
        </p:txBody>
      </p:sp>
      <p:sp>
        <p:nvSpPr>
          <p:cNvPr id="526" name="Google Shape;526;p42"/>
          <p:cNvSpPr/>
          <p:nvPr/>
        </p:nvSpPr>
        <p:spPr>
          <a:xfrm>
            <a:off x="7380038" y="848900"/>
            <a:ext cx="1682100" cy="41835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2"/>
          <p:cNvSpPr txBox="1"/>
          <p:nvPr/>
        </p:nvSpPr>
        <p:spPr>
          <a:xfrm>
            <a:off x="7483015" y="903764"/>
            <a:ext cx="1476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⑤ payment_settled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11:56:33Z</a:t>
            </a:r>
            <a:endParaRPr sz="1000"/>
          </a:p>
        </p:txBody>
      </p:sp>
      <p:sp>
        <p:nvSpPr>
          <p:cNvPr id="528" name="Google Shape;528;p42"/>
          <p:cNvSpPr txBox="1"/>
          <p:nvPr/>
        </p:nvSpPr>
        <p:spPr>
          <a:xfrm>
            <a:off x="7483015" y="1315245"/>
            <a:ext cx="1476000" cy="2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CART 1: settled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refund_amount: $0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OBL-1: CLOSED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allocated: $40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OBL-2: CLOSED · $40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LEDGER (event:2):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LDG-1 SETTLED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txn_3RKstt…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LDG-2 SETTLED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← In financial reports</a:t>
            </a:r>
            <a:endParaRPr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3"/>
          <p:cNvSpPr/>
          <p:nvPr/>
        </p:nvSpPr>
        <p:spPr>
          <a:xfrm>
            <a:off x="343257" y="240030"/>
            <a:ext cx="8464733" cy="27433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43"/>
          <p:cNvSpPr txBox="1"/>
          <p:nvPr/>
        </p:nvSpPr>
        <p:spPr>
          <a:xfrm>
            <a:off x="377583" y="288035"/>
            <a:ext cx="8396081" cy="289033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Support UI — Cart Activity Log</a:t>
            </a:r>
            <a:endParaRPr sz="1100"/>
          </a:p>
        </p:txBody>
      </p:sp>
      <p:sp>
        <p:nvSpPr>
          <p:cNvPr id="535" name="Google Shape;535;p43"/>
          <p:cNvSpPr txBox="1"/>
          <p:nvPr/>
        </p:nvSpPr>
        <p:spPr>
          <a:xfrm>
            <a:off x="377583" y="623059"/>
            <a:ext cx="839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Append-only log of every cart status transition. Linked to obligations and vendor events via correlation_id.</a:t>
            </a:r>
            <a:endParaRPr sz="1000"/>
          </a:p>
        </p:txBody>
      </p:sp>
      <p:sp>
        <p:nvSpPr>
          <p:cNvPr id="536" name="Google Shape;536;p43"/>
          <p:cNvSpPr txBox="1"/>
          <p:nvPr/>
        </p:nvSpPr>
        <p:spPr>
          <a:xfrm>
            <a:off x="308931" y="841023"/>
            <a:ext cx="5423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Cart Activity Log (Cart 1):</a:t>
            </a:r>
            <a:endParaRPr sz="1000"/>
          </a:p>
        </p:txBody>
      </p:sp>
      <p:graphicFrame>
        <p:nvGraphicFramePr>
          <p:cNvPr id="537" name="Google Shape;537;p43"/>
          <p:cNvGraphicFramePr/>
          <p:nvPr/>
        </p:nvGraphicFramePr>
        <p:xfrm>
          <a:off x="274605" y="108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{EB0731C9-13D8-40BC-A0A8-03347B6271DF}</a:tableStyleId>
              </a:tblPr>
              <a:tblGrid>
                <a:gridCol w="1015750"/>
                <a:gridCol w="1862225"/>
                <a:gridCol w="846450"/>
                <a:gridCol w="1015750"/>
                <a:gridCol w="1100400"/>
                <a:gridCol w="2624050"/>
              </a:tblGrid>
              <a:tr h="21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timestamp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event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from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to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actor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cause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</a:tr>
              <a:tr h="21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11:56:15Z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cart.created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—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draft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demo_user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req_checkout_...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1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11:56:15Z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cart.items_added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draft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draft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demo_user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req_checkout_...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1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11:56:23Z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cart.checked_out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draft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checkout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demo_user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req_checkout_...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1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11:56:23Z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cart.payment_submitted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checkout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submitted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demo_user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req_submit_1_...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1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11:56:29Z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cart.payment_confirmed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submitted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confirmed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worker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vendor_event:1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15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11:56:33Z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cart.payment_settled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confirmed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settled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worker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vendor_event:2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38" name="Google Shape;538;p43"/>
          <p:cNvSpPr txBox="1"/>
          <p:nvPr/>
        </p:nvSpPr>
        <p:spPr>
          <a:xfrm>
            <a:off x="308931" y="2726974"/>
            <a:ext cx="4050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CartActivityLog Record Structure:</a:t>
            </a:r>
            <a:endParaRPr sz="1000"/>
          </a:p>
        </p:txBody>
      </p:sp>
      <p:sp>
        <p:nvSpPr>
          <p:cNvPr id="539" name="Google Shape;539;p43"/>
          <p:cNvSpPr/>
          <p:nvPr/>
        </p:nvSpPr>
        <p:spPr>
          <a:xfrm>
            <a:off x="274605" y="2953287"/>
            <a:ext cx="4119000" cy="2126100"/>
          </a:xfrm>
          <a:prstGeom prst="rect">
            <a:avLst/>
          </a:prstGeom>
          <a:solidFill>
            <a:srgbClr val="21262D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43"/>
          <p:cNvSpPr txBox="1"/>
          <p:nvPr/>
        </p:nvSpPr>
        <p:spPr>
          <a:xfrm>
            <a:off x="411909" y="3021868"/>
            <a:ext cx="3844500" cy="17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cart_id:           1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event_type:        cart.payment_settled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old_status:        payment_confirmed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new_status:        payment_settled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actor_type:        worker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actor_id:          worker_event:2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correlation_id:    cart_payment:1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causation_id:      vendor_event:2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metadata:          {"vendor": "stripe", "amount": 8400}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timestamp:         2026-03-24T11:56:33Z</a:t>
            </a:r>
            <a:endParaRPr sz="1000"/>
          </a:p>
        </p:txBody>
      </p:sp>
      <p:sp>
        <p:nvSpPr>
          <p:cNvPr id="541" name="Google Shape;541;p43"/>
          <p:cNvSpPr/>
          <p:nvPr/>
        </p:nvSpPr>
        <p:spPr>
          <a:xfrm>
            <a:off x="4531000" y="2726974"/>
            <a:ext cx="4208400" cy="2352300"/>
          </a:xfrm>
          <a:prstGeom prst="rect">
            <a:avLst/>
          </a:prstGeom>
          <a:solidFill>
            <a:srgbClr val="0D180D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43"/>
          <p:cNvSpPr txBox="1"/>
          <p:nvPr/>
        </p:nvSpPr>
        <p:spPr>
          <a:xfrm>
            <a:off x="4668302" y="2774979"/>
            <a:ext cx="3913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Support Use</a:t>
            </a:r>
            <a:endParaRPr sz="1000"/>
          </a:p>
        </p:txBody>
      </p:sp>
      <p:sp>
        <p:nvSpPr>
          <p:cNvPr id="543" name="Google Shape;543;p43"/>
          <p:cNvSpPr txBox="1"/>
          <p:nvPr/>
        </p:nvSpPr>
        <p:spPr>
          <a:xfrm>
            <a:off x="4668302" y="3001293"/>
            <a:ext cx="39132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If a violator says 'I paid but my citation still shows unpaid', filter this log by citation → find cart → check whether it reached payment_</a:t>
            </a:r>
            <a:r>
              <a:rPr lang="en" sz="10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confirmed</a:t>
            </a:r>
            <a:r>
              <a:rPr b="0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If stuck at payment_submitted, the vendor event has not arrived yet.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Every cart transition is linked back to the exact request or vendor event that caused it — support staff can trace any payment complaint in one query.</a:t>
            </a:r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4"/>
          <p:cNvSpPr/>
          <p:nvPr/>
        </p:nvSpPr>
        <p:spPr>
          <a:xfrm>
            <a:off x="343257" y="240030"/>
            <a:ext cx="8464733" cy="27433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44"/>
          <p:cNvSpPr txBox="1"/>
          <p:nvPr/>
        </p:nvSpPr>
        <p:spPr>
          <a:xfrm>
            <a:off x="377583" y="288035"/>
            <a:ext cx="8396081" cy="289033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Support UI — Obligation Activity Log</a:t>
            </a:r>
            <a:endParaRPr sz="1100"/>
          </a:p>
        </p:txBody>
      </p:sp>
      <p:sp>
        <p:nvSpPr>
          <p:cNvPr id="550" name="Google Shape;550;p44"/>
          <p:cNvSpPr txBox="1"/>
          <p:nvPr/>
        </p:nvSpPr>
        <p:spPr>
          <a:xfrm>
            <a:off x="322446" y="654565"/>
            <a:ext cx="839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Every balance change and status transition on each obligation — linked to the cart and vendor event that caused it.</a:t>
            </a:r>
            <a:endParaRPr sz="1000"/>
          </a:p>
        </p:txBody>
      </p:sp>
      <p:sp>
        <p:nvSpPr>
          <p:cNvPr id="551" name="Google Shape;551;p44"/>
          <p:cNvSpPr txBox="1"/>
          <p:nvPr/>
        </p:nvSpPr>
        <p:spPr>
          <a:xfrm>
            <a:off x="308931" y="888284"/>
            <a:ext cx="839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Obligation Activity Log (OBL-1 · 000331714 · citation_fee):</a:t>
            </a:r>
            <a:endParaRPr sz="1000"/>
          </a:p>
        </p:txBody>
      </p:sp>
      <p:graphicFrame>
        <p:nvGraphicFramePr>
          <p:cNvPr id="552" name="Google Shape;552;p44"/>
          <p:cNvGraphicFramePr/>
          <p:nvPr/>
        </p:nvGraphicFramePr>
        <p:xfrm>
          <a:off x="274605" y="11283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{EB0731C9-13D8-40BC-A0A8-03347B6271DF}</a:tableStyleId>
              </a:tblPr>
              <a:tblGrid>
                <a:gridCol w="1015750"/>
                <a:gridCol w="2031525"/>
                <a:gridCol w="1523650"/>
                <a:gridCol w="1185050"/>
                <a:gridCol w="1523650"/>
                <a:gridCol w="1185050"/>
              </a:tblGrid>
              <a:tr h="21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timestamp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event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status change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outstanding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allocated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cause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</a:tr>
              <a:tr h="21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11:56:15Z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obligation.created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— → OPEN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$40.00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$0.00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citation_issued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1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11:56:23Z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obligation.locked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OPEN → LOCKED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$40.00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$0.00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cart_item:2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1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11:56:29Z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obligation.payment_confirmed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LOCKED → CLOSED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$0.00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$40.00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vendor_event:1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1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11:56:33Z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obligation.payment_settled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CLOSED → CLOSED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$0.00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$40.00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vendor_event:2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15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11:57:02Z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obligation.payment_settled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CLOSED → CLOSED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$0.00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$80.00 +overpaid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checkalt 41/1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15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11:57:21Z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obligation.payment_refunded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CLOSED → CLOSED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$0.00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$40.00 (−$40)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vendor_event:5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53" name="Google Shape;553;p44"/>
          <p:cNvSpPr txBox="1"/>
          <p:nvPr/>
        </p:nvSpPr>
        <p:spPr>
          <a:xfrm>
            <a:off x="308931" y="2774234"/>
            <a:ext cx="4050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ObligationActivityLog Record Structure:</a:t>
            </a:r>
            <a:endParaRPr sz="1000"/>
          </a:p>
        </p:txBody>
      </p:sp>
      <p:sp>
        <p:nvSpPr>
          <p:cNvPr id="554" name="Google Shape;554;p44"/>
          <p:cNvSpPr/>
          <p:nvPr/>
        </p:nvSpPr>
        <p:spPr>
          <a:xfrm>
            <a:off x="274605" y="3000548"/>
            <a:ext cx="4119000" cy="2126100"/>
          </a:xfrm>
          <a:prstGeom prst="rect">
            <a:avLst/>
          </a:prstGeom>
          <a:solidFill>
            <a:srgbClr val="21262D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4"/>
          <p:cNvSpPr txBox="1"/>
          <p:nvPr/>
        </p:nvSpPr>
        <p:spPr>
          <a:xfrm>
            <a:off x="411909" y="3069128"/>
            <a:ext cx="38445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obligation_id:     1 (000331714)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event_type:        obligation.payment_refunded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old_status:        CLOSED / new_status: CLOSED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old_outstanding:   0  / new_outstanding:  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old_allocated:     8000 / new_allocated: 4000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allocated_delta:   -4000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ledger_entry_id:   LDG-7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correlation_id:    cart_payment:1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causation_id:      vendor_event:5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timestamp:         2026-03-24T11:57:21Z</a:t>
            </a:r>
            <a:endParaRPr sz="1000"/>
          </a:p>
        </p:txBody>
      </p:sp>
      <p:sp>
        <p:nvSpPr>
          <p:cNvPr id="556" name="Google Shape;556;p44"/>
          <p:cNvSpPr/>
          <p:nvPr/>
        </p:nvSpPr>
        <p:spPr>
          <a:xfrm>
            <a:off x="4531000" y="2774234"/>
            <a:ext cx="4208400" cy="2352300"/>
          </a:xfrm>
          <a:prstGeom prst="rect">
            <a:avLst/>
          </a:prstGeom>
          <a:solidFill>
            <a:srgbClr val="0D180D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44"/>
          <p:cNvSpPr txBox="1"/>
          <p:nvPr/>
        </p:nvSpPr>
        <p:spPr>
          <a:xfrm>
            <a:off x="4668302" y="2822240"/>
            <a:ext cx="3913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Support Use</a:t>
            </a:r>
            <a:endParaRPr sz="1000"/>
          </a:p>
        </p:txBody>
      </p:sp>
      <p:sp>
        <p:nvSpPr>
          <p:cNvPr id="558" name="Google Shape;558;p44"/>
          <p:cNvSpPr txBox="1"/>
          <p:nvPr/>
        </p:nvSpPr>
        <p:spPr>
          <a:xfrm>
            <a:off x="4668302" y="3048554"/>
            <a:ext cx="39132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Answer 'why is this obligation still open?' in one query.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The activity log shows every allocation added and reversed, the ledger entry that caused it, and who/what initiated the change.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Each record has an allocated_delta showing exactly how much was added or removed in that event — no manual arithmetic required.</a:t>
            </a:r>
            <a:endParaRPr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5"/>
          <p:cNvSpPr/>
          <p:nvPr/>
        </p:nvSpPr>
        <p:spPr>
          <a:xfrm>
            <a:off x="343257" y="240030"/>
            <a:ext cx="8464733" cy="27433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45"/>
          <p:cNvSpPr txBox="1"/>
          <p:nvPr/>
        </p:nvSpPr>
        <p:spPr>
          <a:xfrm>
            <a:off x="377583" y="288035"/>
            <a:ext cx="83961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Support UI — Ledger Report</a:t>
            </a:r>
            <a:endParaRPr sz="1100"/>
          </a:p>
        </p:txBody>
      </p:sp>
      <p:sp>
        <p:nvSpPr>
          <p:cNvPr id="565" name="Google Shape;565;p45"/>
          <p:cNvSpPr/>
          <p:nvPr/>
        </p:nvSpPr>
        <p:spPr>
          <a:xfrm>
            <a:off x="272350" y="1016493"/>
            <a:ext cx="8464800" cy="3890700"/>
          </a:xfrm>
          <a:prstGeom prst="rect">
            <a:avLst/>
          </a:prstGeom>
          <a:solidFill>
            <a:srgbClr val="21262D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66" name="Google Shape;566;p45"/>
          <p:cNvGraphicFramePr/>
          <p:nvPr/>
        </p:nvGraphicFramePr>
        <p:xfrm>
          <a:off x="152400" y="701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{E1203DBA-F43F-47C0-ACF6-7F5FEFCCD8C9}</a:tableStyleId>
              </a:tblPr>
              <a:tblGrid>
                <a:gridCol w="554275"/>
                <a:gridCol w="535800"/>
                <a:gridCol w="942250"/>
                <a:gridCol w="1284050"/>
                <a:gridCol w="563500"/>
                <a:gridCol w="304850"/>
                <a:gridCol w="600450"/>
                <a:gridCol w="351025"/>
                <a:gridCol w="923775"/>
                <a:gridCol w="471125"/>
                <a:gridCol w="388000"/>
                <a:gridCol w="508075"/>
                <a:gridCol w="618925"/>
                <a:gridCol w="489600"/>
                <a:gridCol w="332550"/>
              </a:tblGrid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payment_date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vendor_name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vendor_reference_type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vendor_reference_id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transaction_id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cart_id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payment_mode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type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label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owner_type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owner_id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obligation_id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obligation_label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cart_item_id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amount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2026-03-24 11:56:33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stripe_balance_transaction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txn_3RKstt2KVHqqtmaS1G9OXSH1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online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cart_payment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cart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convenience_fee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400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2026-03-24 11:56:33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stripe_balance_transaction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txn_3RKstt2KVHqqtmaS1G9OXSH1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online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cart_payment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331714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citation_fee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4000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2026-03-24 11:56:33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stripe_balance_transaction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txn_3RKstt2KVHqqtmaS1G9OXSH1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online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cart_payment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329181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citation_fee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4000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2026-03-24 11:56:33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stripe_balance_transaction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txn_3RKstt2KVHqqtmaS1G9OXSH1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online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-155.0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2026-03-24 11:56:33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stripe_balance_transaction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txn_3RKstt2KVHqqtmaS1G9OXSH1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online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cart_payment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cart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convenience_fee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400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2026-03-24 11:56:33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stripe_balance_transaction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txn_3RKstt2KVHqqtmaS1G9OXSH1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online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cart_payment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330575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citation_fee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4000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2026-03-24 11:56:33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stripe_balance_transaction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txn_3RKstt2KVHqqtmaS1G9OXSH1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online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cart_payment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330362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citation_fee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4000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2026-03-24 11:56:33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stripe_balance_transaction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txn_3RKstt2KVHqqtmaS1G9OXSH1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online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-155.0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2026-03-24 11:57:02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checkalt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transaction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41/1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check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check_payment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331714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citation_fee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4000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2026-03-24 11:57:02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checkalt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transaction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41/1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check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check_payment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329181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citation_fee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4000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2026-03-24 11:57:07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checkalt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transaction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42/1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check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check_payment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322452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citation_fee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2000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1" name="Google Shape;571;p46"/>
          <p:cNvGraphicFramePr/>
          <p:nvPr/>
        </p:nvGraphicFramePr>
        <p:xfrm>
          <a:off x="152400" y="701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{E1203DBA-F43F-47C0-ACF6-7F5FEFCCD8C9}</a:tableStyleId>
              </a:tblPr>
              <a:tblGrid>
                <a:gridCol w="554275"/>
                <a:gridCol w="535800"/>
                <a:gridCol w="942250"/>
                <a:gridCol w="1284050"/>
                <a:gridCol w="563500"/>
                <a:gridCol w="304850"/>
                <a:gridCol w="600450"/>
                <a:gridCol w="351025"/>
                <a:gridCol w="923775"/>
                <a:gridCol w="471125"/>
                <a:gridCol w="388000"/>
                <a:gridCol w="508075"/>
                <a:gridCol w="618925"/>
                <a:gridCol w="489600"/>
                <a:gridCol w="332550"/>
              </a:tblGrid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2026-03-24 11:57:21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stripe_balance_transaction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txn_3RKstt2KVHqqtmaS138WeBtC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online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refund_payment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331714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citation_fee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-4000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2026-03-24 11:57:28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stripe_balance_transaction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txn_1STPXu2KVHqqtmaSJLAyVZ2G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online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dispute_payment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cart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convenience_fee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-400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2026-03-24 11:57:28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stripe_balance_transaction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txn_1STPXu2KVHqqtmaSJLAyVZ2G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online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dispute_payment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330575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citation_fee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-4000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2026-03-24 11:57:28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stripe_balance_transaction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txn_1STPXu2KVHqqtmaSJLAyVZ2G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online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dispute_payment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330362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citation_fee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-4000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2026-03-24 11:57:28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stripe_balance_transaction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txn_1STPXu2KVHqqtmaSJLAyVZ2G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online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-1500.0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2026-03-24 11:57:28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stripe_balance_transaction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txn_1STPXu2KVHqqtmaSJLAyVZ2G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online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dispute_payment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cart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convenience_fee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-400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2026-03-24 11:57:28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stripe_balance_transaction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txn_1STPXu2KVHqqtmaSJLAyVZ2G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online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dispute_payment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330575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citation_fee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-4000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2026-03-24 11:57:28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stripe_balance_transaction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txn_1STPXu2KVHqqtmaSJLAyVZ2G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online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dispute_payment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330362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citation_fee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-4000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2026-03-24 11:57:28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stripe_balance_transaction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txn_1STPXu2KVHqqtmaSJLAyVZ2G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online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-1500.0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2026-03-24 11:57:28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stripe_balance_transaction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txn_1STPXu2KVHqqtmaSJLAyVZ123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online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dispute_reversal_payment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cart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convenience_fee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400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2026-03-24 11:57:28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stripe_balance_transaction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txn_1STPXu2KVHqqtmaSJLAyVZ123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online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dispute_reversal_payment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330575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citation_fee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4000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2026-03-24 11:57:28</a:t>
                      </a:r>
                      <a:endParaRPr b="1"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stripe_balance_transaction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txn_1STPXu2KVHqqtmaSJLAyVZ123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online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dispute_reversal_payment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330362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citation_fee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lt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4000</a:t>
                      </a:r>
                      <a:endParaRPr sz="750">
                        <a:solidFill>
                          <a:schemeClr val="lt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2" name="Google Shape;572;p46"/>
          <p:cNvSpPr/>
          <p:nvPr/>
        </p:nvSpPr>
        <p:spPr>
          <a:xfrm>
            <a:off x="343257" y="240030"/>
            <a:ext cx="8464800" cy="27300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46"/>
          <p:cNvSpPr txBox="1"/>
          <p:nvPr/>
        </p:nvSpPr>
        <p:spPr>
          <a:xfrm>
            <a:off x="377583" y="288035"/>
            <a:ext cx="83961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Support UI — Ledger Report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7"/>
          <p:cNvSpPr/>
          <p:nvPr/>
        </p:nvSpPr>
        <p:spPr>
          <a:xfrm>
            <a:off x="343257" y="240030"/>
            <a:ext cx="8464733" cy="27433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47"/>
          <p:cNvSpPr txBox="1"/>
          <p:nvPr/>
        </p:nvSpPr>
        <p:spPr>
          <a:xfrm>
            <a:off x="377583" y="288035"/>
            <a:ext cx="8396081" cy="289033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Support UI — Triage System</a:t>
            </a:r>
            <a:endParaRPr sz="1100"/>
          </a:p>
        </p:txBody>
      </p:sp>
      <p:sp>
        <p:nvSpPr>
          <p:cNvPr id="580" name="Google Shape;580;p47"/>
          <p:cNvSpPr txBox="1"/>
          <p:nvPr/>
        </p:nvSpPr>
        <p:spPr>
          <a:xfrm>
            <a:off x="377583" y="591552"/>
            <a:ext cx="839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Centralized queue for support staff to flag, investigate, and resolve payment anomalies.</a:t>
            </a:r>
            <a:endParaRPr sz="1000"/>
          </a:p>
        </p:txBody>
      </p:sp>
      <p:sp>
        <p:nvSpPr>
          <p:cNvPr id="581" name="Google Shape;581;p47"/>
          <p:cNvSpPr txBox="1"/>
          <p:nvPr/>
        </p:nvSpPr>
        <p:spPr>
          <a:xfrm>
            <a:off x="308931" y="740664"/>
            <a:ext cx="839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Triage Queue (4 open items):</a:t>
            </a:r>
            <a:endParaRPr sz="1000"/>
          </a:p>
        </p:txBody>
      </p:sp>
      <p:graphicFrame>
        <p:nvGraphicFramePr>
          <p:cNvPr id="582" name="Google Shape;582;p47"/>
          <p:cNvGraphicFramePr/>
          <p:nvPr/>
        </p:nvGraphicFramePr>
        <p:xfrm>
          <a:off x="274605" y="9738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{EB0731C9-13D8-40BC-A0A8-03347B6271DF}</a:tableStyleId>
              </a:tblPr>
              <a:tblGrid>
                <a:gridCol w="761800"/>
                <a:gridCol w="1269700"/>
                <a:gridCol w="1100400"/>
                <a:gridCol w="592525"/>
                <a:gridCol w="2624050"/>
                <a:gridCol w="1100400"/>
                <a:gridCol w="1015750"/>
              </a:tblGrid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priority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type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citation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cart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detail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assigned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status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A500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F0A500"/>
                          </a:solidFill>
                        </a:rPr>
                        <a:t>MED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overpayment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000329181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1,3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Paid by Stripe + CheckAlt ($40 over)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—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open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A500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F0A500"/>
                          </a:solidFill>
                        </a:rPr>
                        <a:t>MED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partial_payment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000322452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4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Check paid $20, still owes $20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james.r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in_progress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05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8B949E"/>
                          </a:solidFill>
                        </a:rPr>
                        <a:t>LOW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refund_open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000331714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1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Stripe refund issued, OBL-1 still OPEN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—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open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83" name="Google Shape;583;p47"/>
          <p:cNvSpPr/>
          <p:nvPr/>
        </p:nvSpPr>
        <p:spPr>
          <a:xfrm>
            <a:off x="274600" y="2039331"/>
            <a:ext cx="4050600" cy="1400700"/>
          </a:xfrm>
          <a:prstGeom prst="rect">
            <a:avLst/>
          </a:prstGeom>
          <a:solidFill>
            <a:srgbClr val="21262D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47"/>
          <p:cNvSpPr txBox="1"/>
          <p:nvPr/>
        </p:nvSpPr>
        <p:spPr>
          <a:xfrm>
            <a:off x="411908" y="2073626"/>
            <a:ext cx="3775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Triage Item Detail: CRT-449 — Stuck Payment</a:t>
            </a:r>
            <a:endParaRPr sz="1000"/>
          </a:p>
        </p:txBody>
      </p:sp>
      <p:sp>
        <p:nvSpPr>
          <p:cNvPr id="585" name="Google Shape;585;p47"/>
          <p:cNvSpPr txBox="1"/>
          <p:nvPr/>
        </p:nvSpPr>
        <p:spPr>
          <a:xfrm>
            <a:off x="411908" y="2293081"/>
            <a:ext cx="37758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Cart submitted:    Mar 13 09:22Z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Status:            payment_submitted (48+ hrs)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Stripe intent:     pi_3Px7Rb... → requires_action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Last access log:   req_4mNx1k (submit)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600"/>
              <a:buFont typeface="Courier New"/>
              <a:buNone/>
            </a:pPr>
            <a:r>
              <a:t/>
            </a:r>
            <a:endParaRPr sz="1000"/>
          </a:p>
        </p:txBody>
      </p:sp>
      <p:sp>
        <p:nvSpPr>
          <p:cNvPr id="586" name="Google Shape;586;p47"/>
          <p:cNvSpPr txBox="1"/>
          <p:nvPr/>
        </p:nvSpPr>
        <p:spPr>
          <a:xfrm>
            <a:off x="308931" y="3497580"/>
            <a:ext cx="8396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Triage item types &amp; auto-detection:</a:t>
            </a:r>
            <a:endParaRPr sz="1000"/>
          </a:p>
        </p:txBody>
      </p:sp>
      <p:graphicFrame>
        <p:nvGraphicFramePr>
          <p:cNvPr id="587" name="Google Shape;587;p47"/>
          <p:cNvGraphicFramePr/>
          <p:nvPr/>
        </p:nvGraphicFramePr>
        <p:xfrm>
          <a:off x="274605" y="37238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{EB0731C9-13D8-40BC-A0A8-03347B6271DF}</a:tableStyleId>
              </a:tblPr>
              <a:tblGrid>
                <a:gridCol w="1439000"/>
                <a:gridCol w="3385875"/>
                <a:gridCol w="36398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Type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Detection Rule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Action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stuck_payment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Cart in payment_submitted &gt; 24 hrs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Check Stripe intent status. Cancel + reopen if needed.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refund_failed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Refund processor errors ≥ 3 attempts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Manual Stripe refund. Mark processed.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balance_mismatch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Obligation outstanding &gt; 0 but cart settled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Inspect ledger entries. </a:t>
                      </a:r>
                      <a:r>
                        <a:rPr lang="en" sz="1000">
                          <a:solidFill>
                            <a:srgbClr val="E6EDF3"/>
                          </a:solidFill>
                        </a:rPr>
                        <a:t>Refund if needed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vendor_event_failed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VendorEvent processing_status = failed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Inspect error, fix root cause, replay event.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8"/>
          <p:cNvSpPr/>
          <p:nvPr/>
        </p:nvSpPr>
        <p:spPr>
          <a:xfrm>
            <a:off x="343257" y="240030"/>
            <a:ext cx="8464733" cy="27433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8"/>
          <p:cNvSpPr txBox="1"/>
          <p:nvPr/>
        </p:nvSpPr>
        <p:spPr>
          <a:xfrm>
            <a:off x="377583" y="288035"/>
            <a:ext cx="8396081" cy="289033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Current vs Proposed — Head-to-Head</a:t>
            </a:r>
            <a:endParaRPr sz="1100"/>
          </a:p>
        </p:txBody>
      </p:sp>
      <p:graphicFrame>
        <p:nvGraphicFramePr>
          <p:cNvPr id="594" name="Google Shape;594;p48"/>
          <p:cNvGraphicFramePr/>
          <p:nvPr/>
        </p:nvGraphicFramePr>
        <p:xfrm>
          <a:off x="274605" y="7543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{EB0731C9-13D8-40BC-A0A8-03347B6271DF}</a:tableStyleId>
              </a:tblPr>
              <a:tblGrid>
                <a:gridCol w="1862225"/>
                <a:gridCol w="3301225"/>
                <a:gridCol w="3301225"/>
              </a:tblGrid>
              <a:tr h="38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Capability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Current System (Victor + IMP)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700"/>
                        <a:buFont typeface="Helvetica Neue"/>
                        <a:buNone/>
                      </a:pPr>
                      <a:r>
                        <a:rPr b="1" lang="en" sz="1000" u="none" cap="none" strike="noStrike">
                          <a:solidFill>
                            <a:srgbClr val="8B949E"/>
                          </a:solidFill>
                        </a:rPr>
                        <a:t>Gringotts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21262D"/>
                    </a:solidFill>
                  </a:tcPr>
                </a:tc>
              </a:tr>
              <a:tr h="38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Financial source of truth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Mutable Citations fields — can drift from actual payments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Immutable ledger — every balance derived from append-only entries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38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Refund handling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citation_amount_paid never decremented. Balance wrong after refund.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Refund event creates negative ledger allocation. Obligation reopens automatically.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38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Check amounts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Always $40 (hardcoded in IMP regardless of actual check)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Actual amount from vendor event data (no hardcoding)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38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Partial payments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Not supported for checks. 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Native support. Multiple payments accumulate in ledger allocations.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38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Dispute (chargeback)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No chargeback lifecycle. Refund tracked but balance not reversed.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Full disputed → won/lost lifecycle with ledger stage tracking.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38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Audit trail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IMP creates activity logs. Victor does not. S3 has raw JSONs.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Every state change logged with before/after + correlation/causation IDs.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38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Idempotency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Victor dedupes on stripe_event_id. IMP has no deduplication.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All event processors deduplicate. Ledger identifies duplicate entries.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38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Multi-citation checkout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One Stripe charge per citation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One cart = one Stripe charge for N citations. Lower fees.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38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In-person payment record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No financial record created. Invisible to support and reporting.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VendorEvent + ledger entry created. Fully auditable.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  <a:tr h="38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Financial reporting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Report Manager joins multiple tables that can drift. In-person never appears.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DF3"/>
                        </a:buClr>
                        <a:buSzPts val="700"/>
                        <a:buFont typeface="Helvetica Neue"/>
                        <a:buNone/>
                      </a:pPr>
                      <a:r>
                        <a:rPr lang="en" sz="1000" u="none" cap="none" strike="noStrike">
                          <a:solidFill>
                            <a:srgbClr val="E6EDF3"/>
                          </a:solidFill>
                        </a:rPr>
                        <a:t>Single ledger query. All payment modes in one consistent source.</a:t>
                      </a:r>
                      <a:endParaRPr sz="1000"/>
                    </a:p>
                  </a:txBody>
                  <a:tcPr marT="34300" marB="34300" marR="34325" marL="34325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9"/>
          <p:cNvSpPr/>
          <p:nvPr/>
        </p:nvSpPr>
        <p:spPr>
          <a:xfrm>
            <a:off x="343257" y="240030"/>
            <a:ext cx="8464733" cy="27433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49"/>
          <p:cNvSpPr txBox="1"/>
          <p:nvPr/>
        </p:nvSpPr>
        <p:spPr>
          <a:xfrm>
            <a:off x="377583" y="288035"/>
            <a:ext cx="8396081" cy="289033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700"/>
              <a:buFont typeface="Calibri"/>
              <a:buNone/>
            </a:pPr>
            <a:r>
              <a:rPr b="1" i="0" lang="en" sz="17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Migration Strategy</a:t>
            </a:r>
            <a:endParaRPr sz="1100"/>
          </a:p>
        </p:txBody>
      </p:sp>
      <p:sp>
        <p:nvSpPr>
          <p:cNvPr id="601" name="Google Shape;601;p49"/>
          <p:cNvSpPr/>
          <p:nvPr/>
        </p:nvSpPr>
        <p:spPr>
          <a:xfrm>
            <a:off x="274600" y="754375"/>
            <a:ext cx="8464800" cy="6690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49"/>
          <p:cNvSpPr txBox="1"/>
          <p:nvPr/>
        </p:nvSpPr>
        <p:spPr>
          <a:xfrm>
            <a:off x="446235" y="788670"/>
            <a:ext cx="8169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·  No big-bang cutover — phased by payment mode</a:t>
            </a:r>
            <a:endParaRPr sz="1000"/>
          </a:p>
        </p:txBody>
      </p:sp>
      <p:sp>
        <p:nvSpPr>
          <p:cNvPr id="603" name="Google Shape;603;p49"/>
          <p:cNvSpPr txBox="1"/>
          <p:nvPr/>
        </p:nvSpPr>
        <p:spPr>
          <a:xfrm>
            <a:off x="446235" y="925829"/>
            <a:ext cx="8169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·  Run in parallel during transition (dual-write if needed)</a:t>
            </a:r>
            <a:endParaRPr sz="1000"/>
          </a:p>
        </p:txBody>
      </p:sp>
      <p:sp>
        <p:nvSpPr>
          <p:cNvPr id="604" name="Google Shape;604;p49"/>
          <p:cNvSpPr txBox="1"/>
          <p:nvPr/>
        </p:nvSpPr>
        <p:spPr>
          <a:xfrm>
            <a:off x="446235" y="1062989"/>
            <a:ext cx="8169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·  Existing citations backfilled into Gringotts obligations</a:t>
            </a:r>
            <a:endParaRPr sz="1000"/>
          </a:p>
        </p:txBody>
      </p:sp>
      <p:sp>
        <p:nvSpPr>
          <p:cNvPr id="605" name="Google Shape;605;p49"/>
          <p:cNvSpPr txBox="1"/>
          <p:nvPr/>
        </p:nvSpPr>
        <p:spPr>
          <a:xfrm>
            <a:off x="446235" y="1200149"/>
            <a:ext cx="81696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·  Victor and IMP remain active for legacy citations until fully migrated</a:t>
            </a:r>
            <a:endParaRPr sz="1000"/>
          </a:p>
        </p:txBody>
      </p:sp>
      <p:sp>
        <p:nvSpPr>
          <p:cNvPr id="606" name="Google Shape;606;p49"/>
          <p:cNvSpPr/>
          <p:nvPr/>
        </p:nvSpPr>
        <p:spPr>
          <a:xfrm>
            <a:off x="274600" y="1542575"/>
            <a:ext cx="2746200" cy="32700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9"/>
          <p:cNvSpPr/>
          <p:nvPr/>
        </p:nvSpPr>
        <p:spPr>
          <a:xfrm>
            <a:off x="377583" y="1597441"/>
            <a:ext cx="755100" cy="192000"/>
          </a:xfrm>
          <a:prstGeom prst="rect">
            <a:avLst/>
          </a:prstGeom>
          <a:solidFill>
            <a:srgbClr val="58A6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9"/>
          <p:cNvSpPr txBox="1"/>
          <p:nvPr/>
        </p:nvSpPr>
        <p:spPr>
          <a:xfrm>
            <a:off x="425639" y="1597441"/>
            <a:ext cx="659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sz="1000"/>
          </a:p>
        </p:txBody>
      </p:sp>
      <p:sp>
        <p:nvSpPr>
          <p:cNvPr id="609" name="Google Shape;609;p49"/>
          <p:cNvSpPr txBox="1"/>
          <p:nvPr/>
        </p:nvSpPr>
        <p:spPr>
          <a:xfrm>
            <a:off x="411909" y="1830613"/>
            <a:ext cx="2471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Gringotts Infrastructure</a:t>
            </a:r>
            <a:endParaRPr sz="1000"/>
          </a:p>
        </p:txBody>
      </p:sp>
      <p:sp>
        <p:nvSpPr>
          <p:cNvPr id="610" name="Google Shape;610;p49"/>
          <p:cNvSpPr txBox="1"/>
          <p:nvPr/>
        </p:nvSpPr>
        <p:spPr>
          <a:xfrm>
            <a:off x="411909" y="2077501"/>
            <a:ext cx="24714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1.  Deploy Gringotts alongside existing services — Ledger, Obligation, Cart, VendorEvent tables created. No traffic yet.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2.  Backfill existing citations as Obligations — Open citations → OPEN obligations. Paid citations → CLOSED obligations with synthetic ledger entries.</a:t>
            </a:r>
            <a:endParaRPr sz="1000"/>
          </a:p>
        </p:txBody>
      </p:sp>
      <p:sp>
        <p:nvSpPr>
          <p:cNvPr id="611" name="Google Shape;611;p49"/>
          <p:cNvSpPr/>
          <p:nvPr/>
        </p:nvSpPr>
        <p:spPr>
          <a:xfrm>
            <a:off x="3212900" y="1542575"/>
            <a:ext cx="2746200" cy="32700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F0A5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49"/>
          <p:cNvSpPr/>
          <p:nvPr/>
        </p:nvSpPr>
        <p:spPr>
          <a:xfrm>
            <a:off x="3315868" y="1597441"/>
            <a:ext cx="755100" cy="192000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49"/>
          <p:cNvSpPr txBox="1"/>
          <p:nvPr/>
        </p:nvSpPr>
        <p:spPr>
          <a:xfrm>
            <a:off x="3363924" y="1597441"/>
            <a:ext cx="659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sz="1000"/>
          </a:p>
        </p:txBody>
      </p:sp>
      <p:sp>
        <p:nvSpPr>
          <p:cNvPr id="614" name="Google Shape;614;p49"/>
          <p:cNvSpPr txBox="1"/>
          <p:nvPr/>
        </p:nvSpPr>
        <p:spPr>
          <a:xfrm>
            <a:off x="3350194" y="1830613"/>
            <a:ext cx="2471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Online Payments (Stripe)</a:t>
            </a:r>
            <a:endParaRPr sz="1000"/>
          </a:p>
        </p:txBody>
      </p:sp>
      <p:sp>
        <p:nvSpPr>
          <p:cNvPr id="615" name="Google Shape;615;p49"/>
          <p:cNvSpPr txBox="1"/>
          <p:nvPr/>
        </p:nvSpPr>
        <p:spPr>
          <a:xfrm>
            <a:off x="3350194" y="2077501"/>
            <a:ext cx="2471400" cy="1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1.  Route new Stripe webhooks to Gringotts — Victor reads events; Gringotts processes them. Dual-write until validated.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2.  New checkouts create Gringotts Carts — Public API updated to use POST /checkout + POST /submit.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3.  Decommission Victor's payment logic — Victor becomes a thin webhook receiver only.</a:t>
            </a:r>
            <a:endParaRPr sz="1000"/>
          </a:p>
        </p:txBody>
      </p:sp>
      <p:sp>
        <p:nvSpPr>
          <p:cNvPr id="616" name="Google Shape;616;p49"/>
          <p:cNvSpPr/>
          <p:nvPr/>
        </p:nvSpPr>
        <p:spPr>
          <a:xfrm>
            <a:off x="6151175" y="1542575"/>
            <a:ext cx="2746200" cy="3270000"/>
          </a:xfrm>
          <a:prstGeom prst="rect">
            <a:avLst/>
          </a:prstGeom>
          <a:solidFill>
            <a:srgbClr val="161B22"/>
          </a:solidFill>
          <a:ln cap="flat" cmpd="sng" w="9525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9"/>
          <p:cNvSpPr/>
          <p:nvPr/>
        </p:nvSpPr>
        <p:spPr>
          <a:xfrm>
            <a:off x="6254152" y="1597441"/>
            <a:ext cx="755100" cy="19200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9"/>
          <p:cNvSpPr txBox="1"/>
          <p:nvPr/>
        </p:nvSpPr>
        <p:spPr>
          <a:xfrm>
            <a:off x="6302208" y="1597441"/>
            <a:ext cx="659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sz="1000"/>
          </a:p>
        </p:txBody>
      </p:sp>
      <p:sp>
        <p:nvSpPr>
          <p:cNvPr id="619" name="Google Shape;619;p49"/>
          <p:cNvSpPr txBox="1"/>
          <p:nvPr/>
        </p:nvSpPr>
        <p:spPr>
          <a:xfrm>
            <a:off x="6288478" y="1830613"/>
            <a:ext cx="2471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Check Payments + Reports</a:t>
            </a:r>
            <a:endParaRPr sz="1000"/>
          </a:p>
        </p:txBody>
      </p:sp>
      <p:sp>
        <p:nvSpPr>
          <p:cNvPr id="620" name="Google Shape;620;p49"/>
          <p:cNvSpPr txBox="1"/>
          <p:nvPr/>
        </p:nvSpPr>
        <p:spPr>
          <a:xfrm>
            <a:off x="6288478" y="2077501"/>
            <a:ext cx="24714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1.  Route CheckAlt events to Gringotts — IMP replaced by Gringotts CheckAlt vendor module.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2.  Replace Report Manager with ledger queries — GET /reports/ledger replaces CSV generation.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rgbClr val="E6ED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700"/>
              <a:buFont typeface="Calibri"/>
              <a:buNone/>
            </a:pPr>
            <a:r>
              <a:rPr b="0" i="0" lang="en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3.  Decommission IMP + Report Manager.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